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4" r:id="rId8"/>
    <p:sldId id="265" r:id="rId9"/>
    <p:sldId id="285" r:id="rId10"/>
    <p:sldId id="266" r:id="rId11"/>
    <p:sldId id="269" r:id="rId12"/>
    <p:sldId id="270" r:id="rId13"/>
    <p:sldId id="271" r:id="rId14"/>
    <p:sldId id="286" r:id="rId15"/>
    <p:sldId id="272" r:id="rId16"/>
    <p:sldId id="273" r:id="rId17"/>
    <p:sldId id="274" r:id="rId18"/>
    <p:sldId id="275" r:id="rId19"/>
    <p:sldId id="276" r:id="rId20"/>
    <p:sldId id="277" r:id="rId21"/>
    <p:sldId id="280" r:id="rId22"/>
    <p:sldId id="283" r:id="rId23"/>
    <p:sldId id="28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0" d="100"/>
          <a:sy n="70" d="100"/>
        </p:scale>
        <p:origin x="714" y="-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0B6DE1-0B9D-45AF-B6B1-604B033AF5B4}"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2EBC4A-AA8A-43DB-BE4F-D635DB186223}" type="slidenum">
              <a:rPr lang="en-US" smtClean="0"/>
              <a:t>‹#›</a:t>
            </a:fld>
            <a:endParaRPr lang="en-US"/>
          </a:p>
        </p:txBody>
      </p:sp>
    </p:spTree>
    <p:extLst>
      <p:ext uri="{BB962C8B-B14F-4D97-AF65-F5344CB8AC3E}">
        <p14:creationId xmlns:p14="http://schemas.microsoft.com/office/powerpoint/2010/main" val="4123656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UC-2 is the outer pipeline; UC-15 is the AI engine embedded inside its analysis step.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Problem and Future State framing pulled directly from the original UC-002 project document (December 2024) — the four-regulator scope reflects how the project has since grown beyond its original SBP/SECP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wasn't an arbitrary tooling choice — each site's rendering behavior dictated the right framework.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genuine pivot, not a hypothetical comparison: local OCR was good enough for plain text but not for preserving table/column structure.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orchestrator class, one unified analysis table — the per-regulator differences are isolated to crawling and the insert/versioning step.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scheduler is intentionally simple — a polling loop with a lock, not a task queue — which fits the current single-pipeline-at-a-time operating model.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UC-15 is the requirement-extraction part embedded inside UC-2's analysis layer — same engine regardless of where the text came from.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1A32F-DD8F-33B1-EE66-F846DF781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C5D9A-0D15-77A1-F6BC-ACCF26FF5BD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4168163-61C7-96CF-4636-83F5377AC066}"/>
              </a:ext>
            </a:extLst>
          </p:cNvPr>
          <p:cNvSpPr>
            <a:spLocks noGrp="1"/>
          </p:cNvSpPr>
          <p:nvPr>
            <p:ph type="body" sz="quarter" idx="3"/>
          </p:nvPr>
        </p:nvSpPr>
        <p:spPr/>
        <p:txBody>
          <a:bodyPr/>
          <a:lstStyle/>
          <a:p>
            <a:r>
              <a:t>UC-15 is the requirement-extraction part embedded inside UC-2's analysis layer — same engine regardless of where the text came from.</a:t>
            </a:r>
          </a:p>
        </p:txBody>
      </p:sp>
      <p:sp>
        <p:nvSpPr>
          <p:cNvPr id="4" name="Slide Number Placeholder 3">
            <a:extLst>
              <a:ext uri="{FF2B5EF4-FFF2-40B4-BE49-F238E27FC236}">
                <a16:creationId xmlns:a16="http://schemas.microsoft.com/office/drawing/2014/main" id="{9571EC51-EA04-062F-55FF-760472205060}"/>
              </a:ext>
            </a:extLst>
          </p:cNvPr>
          <p:cNvSpPr>
            <a:spLocks noGrp="1"/>
          </p:cNvSpPr>
          <p:nvPr>
            <p:ph type="sldNum" sz="quarter" idx="5"/>
          </p:nvPr>
        </p:nvSpPr>
        <p:spPr/>
      </p:sp>
    </p:spTree>
    <p:extLst>
      <p:ext uri="{BB962C8B-B14F-4D97-AF65-F5344CB8AC3E}">
        <p14:creationId xmlns:p14="http://schemas.microsoft.com/office/powerpoint/2010/main" val="4135610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processor/staged_LLM_Analyzer.py — described here as a 3-stage extraction engine (extract, classify, design controls); the pipeline also produces an internal executive-summary report from these three stages' output, not covered in this deck.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Grounded directly in the system prompts read from staged_LLM_Analyzer.py, gap_analyzer.py, and requirement_matcher.py — this consolidates every anti-hallucination and reliability mechanism actually present in the code.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SAMA and SECP carry the highest per-document cost because their documents are genuinely larger, not because they're analyzed more often.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reiterating the relationship: UC-2 is the pipeline, UC-15 is the brain inside it — and every number on the costing slides traces back to the actual database, not a generic estimate.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54864"/>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94560"/>
            <a:ext cx="10360152" cy="1188720"/>
          </a:xfrm>
          <a:prstGeom prst="rect">
            <a:avLst/>
          </a:prstGeom>
          <a:noFill/>
        </p:spPr>
        <p:txBody>
          <a:bodyPr wrap="square" lIns="0" tIns="0" rIns="0" bIns="0" anchor="ctr">
            <a:noAutofit/>
          </a:bodyPr>
          <a:lstStyle/>
          <a:p>
            <a:pPr algn="ctr"/>
            <a:r>
              <a:rPr sz="3800" b="1" i="0">
                <a:solidFill>
                  <a:srgbClr val="FFFFFF"/>
                </a:solidFill>
                <a:latin typeface="Calibri"/>
              </a:rPr>
              <a:t>Regulatory Compliance Automation</a:t>
            </a:r>
          </a:p>
        </p:txBody>
      </p:sp>
      <p:sp>
        <p:nvSpPr>
          <p:cNvPr id="5" name="TextBox 4"/>
          <p:cNvSpPr txBox="1"/>
          <p:nvPr/>
        </p:nvSpPr>
        <p:spPr>
          <a:xfrm>
            <a:off x="914400" y="3291840"/>
            <a:ext cx="10360152" cy="640080"/>
          </a:xfrm>
          <a:prstGeom prst="rect">
            <a:avLst/>
          </a:prstGeom>
          <a:noFill/>
        </p:spPr>
        <p:txBody>
          <a:bodyPr wrap="square" lIns="0" tIns="0" rIns="0" bIns="0" anchor="ctr">
            <a:noAutofit/>
          </a:bodyPr>
          <a:lstStyle/>
          <a:p>
            <a:pPr algn="ctr"/>
            <a:r>
              <a:rPr sz="1900" b="0" i="0">
                <a:solidFill>
                  <a:srgbClr val="17A28B"/>
                </a:solidFill>
                <a:latin typeface="Calibri"/>
              </a:rPr>
              <a:t>UC-2: Compliance Pipeline and UC-15: Requirement Extraction Engine</a:t>
            </a:r>
          </a:p>
        </p:txBody>
      </p:sp>
      <p:sp>
        <p:nvSpPr>
          <p:cNvPr id="6" name="TextBox 5"/>
          <p:cNvSpPr txBox="1"/>
          <p:nvPr/>
        </p:nvSpPr>
        <p:spPr>
          <a:xfrm>
            <a:off x="914400" y="4434840"/>
            <a:ext cx="10360152" cy="457200"/>
          </a:xfrm>
          <a:prstGeom prst="rect">
            <a:avLst/>
          </a:prstGeom>
          <a:noFill/>
        </p:spPr>
        <p:txBody>
          <a:bodyPr wrap="square" lIns="0" tIns="0" rIns="0" bIns="0" anchor="ctr">
            <a:noAutofit/>
          </a:bodyPr>
          <a:lstStyle/>
          <a:p>
            <a:pPr algn="ctr"/>
            <a:r>
              <a:rPr sz="1400" b="0" i="0">
                <a:solidFill>
                  <a:srgbClr val="8A939B"/>
                </a:solidFill>
                <a:latin typeface="Calibri"/>
              </a:rPr>
              <a:t>An architecture deep dive, covering design decisions and a usage-grounded cost model</a:t>
            </a:r>
          </a:p>
        </p:txBody>
      </p:sp>
      <p:sp>
        <p:nvSpPr>
          <p:cNvPr id="7" name="TextBox 6"/>
          <p:cNvSpPr txBox="1"/>
          <p:nvPr/>
        </p:nvSpPr>
        <p:spPr>
          <a:xfrm>
            <a:off x="914400" y="6126480"/>
            <a:ext cx="10360152" cy="365760"/>
          </a:xfrm>
          <a:prstGeom prst="rect">
            <a:avLst/>
          </a:prstGeom>
          <a:noFill/>
        </p:spPr>
        <p:txBody>
          <a:bodyPr wrap="square" lIns="0" tIns="0" rIns="0" bIns="0" anchor="t">
            <a:noAutofit/>
          </a:bodyPr>
          <a:lstStyle/>
          <a:p>
            <a:pPr algn="ctr"/>
            <a:r>
              <a:rPr sz="1200" b="0" i="0">
                <a:solidFill>
                  <a:srgbClr val="8A939B"/>
                </a:solidFill>
                <a:latin typeface="Calibri"/>
              </a:rPr>
              <a:t>Prepared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Agenda</a:t>
            </a:r>
          </a:p>
        </p:txBody>
      </p:sp>
      <p:sp>
        <p:nvSpPr>
          <p:cNvPr id="5" name="TextBox 4"/>
          <p:cNvSpPr txBox="1"/>
          <p:nvPr/>
        </p:nvSpPr>
        <p:spPr>
          <a:xfrm>
            <a:off x="457200" y="1188720"/>
            <a:ext cx="3657600" cy="329184"/>
          </a:xfrm>
          <a:prstGeom prst="rect">
            <a:avLst/>
          </a:prstGeom>
          <a:noFill/>
        </p:spPr>
        <p:txBody>
          <a:bodyPr wrap="square" lIns="0" tIns="0" rIns="0" bIns="0" anchor="t">
            <a:noAutofit/>
          </a:bodyPr>
          <a:lstStyle/>
          <a:p>
            <a:pPr algn="l"/>
            <a:r>
              <a:rPr sz="1800" b="1" i="0">
                <a:solidFill>
                  <a:srgbClr val="17A28B"/>
                </a:solidFill>
                <a:latin typeface="Calibri"/>
              </a:rPr>
              <a:t>UC-2</a:t>
            </a:r>
          </a:p>
        </p:txBody>
      </p:sp>
      <p:sp>
        <p:nvSpPr>
          <p:cNvPr id="6" name="TextBox 5"/>
          <p:cNvSpPr txBox="1"/>
          <p:nvPr/>
        </p:nvSpPr>
        <p:spPr>
          <a:xfrm>
            <a:off x="777240" y="1568768"/>
            <a:ext cx="10957255" cy="1510863"/>
          </a:xfrm>
          <a:prstGeom prst="rect">
            <a:avLst/>
          </a:prstGeom>
          <a:noFill/>
        </p:spPr>
        <p:txBody>
          <a:bodyPr wrap="square">
            <a:spAutoFit/>
          </a:bodyPr>
          <a:lstStyle/>
          <a:p>
            <a:pPr>
              <a:lnSpc>
                <a:spcPct val="105000"/>
              </a:lnSpc>
              <a:spcAft>
                <a:spcPts val="500"/>
              </a:spcAft>
            </a:pPr>
            <a:r>
              <a:rPr sz="1450" dirty="0">
                <a:solidFill>
                  <a:srgbClr val="2B2B2B"/>
                </a:solidFill>
                <a:latin typeface="Calibri"/>
              </a:rPr>
              <a:t>–   Problem Statement</a:t>
            </a:r>
          </a:p>
          <a:p>
            <a:pPr>
              <a:lnSpc>
                <a:spcPct val="105000"/>
              </a:lnSpc>
              <a:spcAft>
                <a:spcPts val="500"/>
              </a:spcAft>
            </a:pPr>
            <a:r>
              <a:rPr sz="1450" dirty="0">
                <a:solidFill>
                  <a:srgbClr val="2B2B2B"/>
                </a:solidFill>
                <a:latin typeface="Calibri"/>
              </a:rPr>
              <a:t>–   Crawler Design: One Tool Per Site</a:t>
            </a:r>
          </a:p>
          <a:p>
            <a:pPr>
              <a:lnSpc>
                <a:spcPct val="105000"/>
              </a:lnSpc>
              <a:spcAft>
                <a:spcPts val="500"/>
              </a:spcAft>
            </a:pPr>
            <a:r>
              <a:rPr sz="1450" dirty="0">
                <a:solidFill>
                  <a:srgbClr val="2B2B2B"/>
                </a:solidFill>
                <a:latin typeface="Calibri"/>
              </a:rPr>
              <a:t>–   Extraction Strategy: Local vs. Cloud, Routed by Need</a:t>
            </a:r>
          </a:p>
          <a:p>
            <a:pPr>
              <a:lnSpc>
                <a:spcPct val="105000"/>
              </a:lnSpc>
              <a:spcAft>
                <a:spcPts val="500"/>
              </a:spcAft>
            </a:pPr>
            <a:r>
              <a:rPr sz="1450" dirty="0">
                <a:solidFill>
                  <a:srgbClr val="2B2B2B"/>
                </a:solidFill>
                <a:latin typeface="Calibri"/>
              </a:rPr>
              <a:t>–   Content Resolution and CBB Versioning</a:t>
            </a:r>
          </a:p>
          <a:p>
            <a:pPr>
              <a:lnSpc>
                <a:spcPct val="105000"/>
              </a:lnSpc>
              <a:spcAft>
                <a:spcPts val="500"/>
              </a:spcAft>
            </a:pPr>
            <a:r>
              <a:rPr sz="1450" dirty="0">
                <a:solidFill>
                  <a:srgbClr val="2B2B2B"/>
                </a:solidFill>
                <a:latin typeface="Calibri"/>
              </a:rPr>
              <a:t>–   System Architecture, API, and Scheduling</a:t>
            </a:r>
          </a:p>
        </p:txBody>
      </p:sp>
      <p:sp>
        <p:nvSpPr>
          <p:cNvPr id="7" name="TextBox 6"/>
          <p:cNvSpPr txBox="1"/>
          <p:nvPr/>
        </p:nvSpPr>
        <p:spPr>
          <a:xfrm>
            <a:off x="457200" y="3566160"/>
            <a:ext cx="3657600" cy="329184"/>
          </a:xfrm>
          <a:prstGeom prst="rect">
            <a:avLst/>
          </a:prstGeom>
          <a:noFill/>
        </p:spPr>
        <p:txBody>
          <a:bodyPr wrap="square" lIns="0" tIns="0" rIns="0" bIns="0" anchor="t">
            <a:noAutofit/>
          </a:bodyPr>
          <a:lstStyle/>
          <a:p>
            <a:pPr algn="l"/>
            <a:r>
              <a:rPr sz="1800" b="1" i="0">
                <a:solidFill>
                  <a:srgbClr val="E37B1B"/>
                </a:solidFill>
                <a:latin typeface="Calibri"/>
              </a:rPr>
              <a:t>UC-15</a:t>
            </a:r>
          </a:p>
        </p:txBody>
      </p:sp>
      <p:sp>
        <p:nvSpPr>
          <p:cNvPr id="8" name="TextBox 7"/>
          <p:cNvSpPr txBox="1"/>
          <p:nvPr/>
        </p:nvSpPr>
        <p:spPr>
          <a:xfrm>
            <a:off x="777240" y="3931920"/>
            <a:ext cx="10957255" cy="1261872"/>
          </a:xfrm>
          <a:prstGeom prst="rect">
            <a:avLst/>
          </a:prstGeom>
          <a:noFill/>
        </p:spPr>
        <p:txBody>
          <a:bodyPr wrap="square">
            <a:spAutoFit/>
          </a:bodyPr>
          <a:lstStyle/>
          <a:p>
            <a:pPr>
              <a:lnSpc>
                <a:spcPct val="105000"/>
              </a:lnSpc>
              <a:spcAft>
                <a:spcPts val="500"/>
              </a:spcAft>
            </a:pPr>
            <a:r>
              <a:rPr sz="1450" dirty="0">
                <a:solidFill>
                  <a:srgbClr val="2B2B2B"/>
                </a:solidFill>
                <a:latin typeface="Calibri"/>
              </a:rPr>
              <a:t>–   Problem Statement and Model Evaluation</a:t>
            </a:r>
          </a:p>
          <a:p>
            <a:pPr>
              <a:lnSpc>
                <a:spcPct val="105000"/>
              </a:lnSpc>
              <a:spcAft>
                <a:spcPts val="500"/>
              </a:spcAft>
            </a:pPr>
            <a:r>
              <a:rPr sz="1450" dirty="0">
                <a:solidFill>
                  <a:srgbClr val="2B2B2B"/>
                </a:solidFill>
                <a:latin typeface="Calibri"/>
              </a:rPr>
              <a:t>–   The Three-Stage Extraction Pipeline</a:t>
            </a:r>
          </a:p>
          <a:p>
            <a:pPr>
              <a:lnSpc>
                <a:spcPct val="105000"/>
              </a:lnSpc>
              <a:spcAft>
                <a:spcPts val="500"/>
              </a:spcAft>
            </a:pPr>
            <a:r>
              <a:rPr sz="1450" dirty="0">
                <a:solidFill>
                  <a:srgbClr val="2B2B2B"/>
                </a:solidFill>
                <a:latin typeface="Calibri"/>
              </a:rPr>
              <a:t>–   Hallucination Control and Reliability</a:t>
            </a:r>
          </a:p>
          <a:p>
            <a:pPr>
              <a:lnSpc>
                <a:spcPct val="105000"/>
              </a:lnSpc>
              <a:spcAft>
                <a:spcPts val="500"/>
              </a:spcAft>
            </a:pPr>
            <a:r>
              <a:rPr sz="1450" dirty="0">
                <a:solidFill>
                  <a:srgbClr val="2B2B2B"/>
                </a:solidFill>
                <a:latin typeface="Calibri"/>
              </a:rPr>
              <a:t>–   Matching, Gap Analysis, and Lessons Learned</a:t>
            </a:r>
          </a:p>
        </p:txBody>
      </p:sp>
      <p:sp>
        <p:nvSpPr>
          <p:cNvPr id="9" name="TextBox 8"/>
          <p:cNvSpPr txBox="1"/>
          <p:nvPr/>
        </p:nvSpPr>
        <p:spPr>
          <a:xfrm>
            <a:off x="457200" y="5358384"/>
            <a:ext cx="3657600" cy="329184"/>
          </a:xfrm>
          <a:prstGeom prst="rect">
            <a:avLst/>
          </a:prstGeom>
          <a:noFill/>
        </p:spPr>
        <p:txBody>
          <a:bodyPr wrap="square" lIns="0" tIns="0" rIns="0" bIns="0" anchor="t">
            <a:noAutofit/>
          </a:bodyPr>
          <a:lstStyle/>
          <a:p>
            <a:pPr algn="l"/>
            <a:r>
              <a:rPr sz="1800" b="1" i="0">
                <a:solidFill>
                  <a:srgbClr val="102A43"/>
                </a:solidFill>
                <a:latin typeface="Calibri"/>
              </a:rPr>
              <a:t>Costing &amp; Wrap-Up</a:t>
            </a:r>
          </a:p>
        </p:txBody>
      </p:sp>
      <p:sp>
        <p:nvSpPr>
          <p:cNvPr id="10" name="TextBox 9"/>
          <p:cNvSpPr txBox="1"/>
          <p:nvPr/>
        </p:nvSpPr>
        <p:spPr>
          <a:xfrm>
            <a:off x="777240" y="5724144"/>
            <a:ext cx="10957255" cy="969264"/>
          </a:xfrm>
          <a:prstGeom prst="rect">
            <a:avLst/>
          </a:prstGeom>
          <a:noFill/>
        </p:spPr>
        <p:txBody>
          <a:bodyPr wrap="square">
            <a:spAutoFit/>
          </a:bodyPr>
          <a:lstStyle/>
          <a:p>
            <a:pPr>
              <a:lnSpc>
                <a:spcPct val="105000"/>
              </a:lnSpc>
              <a:spcAft>
                <a:spcPts val="500"/>
              </a:spcAft>
            </a:pPr>
            <a:r>
              <a:rPr sz="1450" dirty="0">
                <a:solidFill>
                  <a:srgbClr val="2B2B2B"/>
                </a:solidFill>
                <a:latin typeface="Calibri"/>
              </a:rPr>
              <a:t>–   Costing — Per-Document Economics</a:t>
            </a:r>
          </a:p>
          <a:p>
            <a:pPr>
              <a:lnSpc>
                <a:spcPct val="105000"/>
              </a:lnSpc>
              <a:spcAft>
                <a:spcPts val="500"/>
              </a:spcAft>
            </a:pPr>
            <a:r>
              <a:rPr sz="1450" dirty="0">
                <a:solidFill>
                  <a:srgbClr val="2B2B2B"/>
                </a:solidFill>
                <a:latin typeface="Calibri"/>
              </a:rPr>
              <a:t>–   What Isn't Instrumented</a:t>
            </a:r>
          </a:p>
          <a:p>
            <a:pPr>
              <a:lnSpc>
                <a:spcPct val="105000"/>
              </a:lnSpc>
              <a:spcAft>
                <a:spcPts val="500"/>
              </a:spcAft>
            </a:pPr>
            <a:r>
              <a:rPr sz="1450" dirty="0">
                <a:solidFill>
                  <a:srgbClr val="2B2B2B"/>
                </a:solidFill>
                <a:latin typeface="Calibri"/>
              </a:rPr>
              <a:t>–   Licensing, Infrastructure, and Key Takeaways</a:t>
            </a:r>
          </a:p>
        </p:txBody>
      </p:sp>
      <p:sp>
        <p:nvSpPr>
          <p:cNvPr id="11" name="Rectangle 10"/>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7315200" cy="292608"/>
          </a:xfrm>
          <a:prstGeom prst="rect">
            <a:avLst/>
          </a:prstGeom>
          <a:noFill/>
        </p:spPr>
        <p:txBody>
          <a:bodyPr wrap="square" lIns="0" tIns="0" rIns="0" bIns="0" anchor="ctr">
            <a:noAutofit/>
          </a:bodyPr>
          <a:lstStyle/>
          <a:p>
            <a:pPr algn="l"/>
            <a:r>
              <a:rPr sz="1000" b="0" i="0" dirty="0">
                <a:solidFill>
                  <a:srgbClr val="8A939B"/>
                </a:solidFill>
                <a:latin typeface="Calibri"/>
              </a:rPr>
              <a:t>Regulatory Compliance Automation  UC-2 &amp; UC-15</a:t>
            </a:r>
          </a:p>
        </p:txBody>
      </p:sp>
      <p:sp>
        <p:nvSpPr>
          <p:cNvPr id="13" name="TextBox 12"/>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3246120"/>
            <a:ext cx="2011680" cy="64008"/>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377440"/>
            <a:ext cx="10360152" cy="548640"/>
          </a:xfrm>
          <a:prstGeom prst="rect">
            <a:avLst/>
          </a:prstGeom>
          <a:noFill/>
        </p:spPr>
        <p:txBody>
          <a:bodyPr wrap="square" lIns="0" tIns="0" rIns="0" bIns="0" anchor="t">
            <a:noAutofit/>
          </a:bodyPr>
          <a:lstStyle/>
          <a:p>
            <a:pPr algn="l"/>
            <a:r>
              <a:rPr sz="1800" b="1" i="0">
                <a:solidFill>
                  <a:srgbClr val="17A28B"/>
                </a:solidFill>
                <a:latin typeface="Calibri"/>
              </a:rPr>
              <a:t>PART 1</a:t>
            </a:r>
          </a:p>
        </p:txBody>
      </p:sp>
      <p:sp>
        <p:nvSpPr>
          <p:cNvPr id="5" name="TextBox 4"/>
          <p:cNvSpPr txBox="1"/>
          <p:nvPr/>
        </p:nvSpPr>
        <p:spPr>
          <a:xfrm>
            <a:off x="914400" y="3429000"/>
            <a:ext cx="10360152" cy="1097280"/>
          </a:xfrm>
          <a:prstGeom prst="rect">
            <a:avLst/>
          </a:prstGeom>
          <a:noFill/>
        </p:spPr>
        <p:txBody>
          <a:bodyPr wrap="square" lIns="0" tIns="0" rIns="0" bIns="0" anchor="t">
            <a:noAutofit/>
          </a:bodyPr>
          <a:lstStyle/>
          <a:p>
            <a:pPr algn="l"/>
            <a:r>
              <a:rPr sz="3200" b="1" i="0">
                <a:solidFill>
                  <a:srgbClr val="FFFFFF"/>
                </a:solidFill>
                <a:latin typeface="Calibri"/>
              </a:rPr>
              <a:t>UC-2 — Regulatory Compliance Pipeline</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Problem Statement</a:t>
            </a:r>
          </a:p>
        </p:txBody>
      </p:sp>
      <p:sp>
        <p:nvSpPr>
          <p:cNvPr id="5" name="TextBox 4"/>
          <p:cNvSpPr txBox="1"/>
          <p:nvPr/>
        </p:nvSpPr>
        <p:spPr>
          <a:xfrm>
            <a:off x="457200" y="1280160"/>
            <a:ext cx="11277295" cy="2851422"/>
          </a:xfrm>
          <a:prstGeom prst="rect">
            <a:avLst/>
          </a:prstGeom>
          <a:noFill/>
        </p:spPr>
        <p:txBody>
          <a:bodyPr wrap="square">
            <a:spAutoFit/>
          </a:bodyPr>
          <a:lstStyle/>
          <a:p>
            <a:pPr>
              <a:lnSpc>
                <a:spcPct val="110000"/>
              </a:lnSpc>
              <a:spcAft>
                <a:spcPts val="1400"/>
              </a:spcAft>
            </a:pPr>
            <a:r>
              <a:rPr sz="1650" dirty="0">
                <a:solidFill>
                  <a:srgbClr val="2B2B2B"/>
                </a:solidFill>
                <a:latin typeface="Calibri"/>
              </a:rPr>
              <a:t>•   UC-2 was created to solve a documented business problem: regulatory monitoring was being performed manually, with frequent missed updates, misclassifications, and error-prone manual data entry.</a:t>
            </a:r>
          </a:p>
          <a:p>
            <a:pPr>
              <a:lnSpc>
                <a:spcPct val="110000"/>
              </a:lnSpc>
              <a:spcAft>
                <a:spcPts val="1400"/>
              </a:spcAft>
            </a:pPr>
            <a:r>
              <a:rPr sz="1650" dirty="0">
                <a:solidFill>
                  <a:srgbClr val="2B2B2B"/>
                </a:solidFill>
                <a:latin typeface="Calibri"/>
              </a:rPr>
              <a:t>•   Maintaining this process across multiple regulators had become time-consuming and difficult to sustain at the level of accuracy compliance requires.</a:t>
            </a:r>
          </a:p>
          <a:p>
            <a:pPr>
              <a:lnSpc>
                <a:spcPct val="110000"/>
              </a:lnSpc>
              <a:spcAft>
                <a:spcPts val="1400"/>
              </a:spcAft>
            </a:pPr>
            <a:r>
              <a:rPr sz="1650" dirty="0">
                <a:solidFill>
                  <a:srgbClr val="2B2B2B"/>
                </a:solidFill>
                <a:latin typeface="Calibri"/>
              </a:rPr>
              <a:t>•   The target future state was fully automated detection of new and changed publications, structured and accurate data, complete auditability, and a significant reduction in cost.</a:t>
            </a:r>
          </a:p>
          <a:p>
            <a:pPr>
              <a:lnSpc>
                <a:spcPct val="110000"/>
              </a:lnSpc>
              <a:spcAft>
                <a:spcPts val="1400"/>
              </a:spcAft>
            </a:pPr>
            <a:r>
              <a:rPr sz="1650" dirty="0">
                <a:solidFill>
                  <a:srgbClr val="2B2B2B"/>
                </a:solidFill>
                <a:latin typeface="Calibri"/>
              </a:rPr>
              <a:t>•   UC-2 delivers that future state: it crawls continuously, extracts content reliably, applies AI-driven analysis through UC-15, preserves a complete version history, and serves the results bilingually through one API.</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Crawler Design: One Tool Per Site</a:t>
            </a:r>
          </a:p>
        </p:txBody>
      </p:sp>
      <p:graphicFrame>
        <p:nvGraphicFramePr>
          <p:cNvPr id="5" name="Table 4"/>
          <p:cNvGraphicFramePr>
            <a:graphicFrameLocks noGrp="1"/>
          </p:cNvGraphicFramePr>
          <p:nvPr/>
        </p:nvGraphicFramePr>
        <p:xfrm>
          <a:off x="457200" y="1188720"/>
          <a:ext cx="11277293" cy="4709160"/>
        </p:xfrm>
        <a:graphic>
          <a:graphicData uri="http://schemas.openxmlformats.org/drawingml/2006/table">
            <a:tbl>
              <a:tblPr firstRow="1" bandRow="1">
                <a:tableStyleId>{5C22544A-7EE6-4342-B048-85BDC9FD1C3A}</a:tableStyleId>
              </a:tblPr>
              <a:tblGrid>
                <a:gridCol w="1174718">
                  <a:extLst>
                    <a:ext uri="{9D8B030D-6E8A-4147-A177-3AD203B41FA5}">
                      <a16:colId xmlns:a16="http://schemas.microsoft.com/office/drawing/2014/main" val="20000"/>
                    </a:ext>
                  </a:extLst>
                </a:gridCol>
                <a:gridCol w="3524154">
                  <a:extLst>
                    <a:ext uri="{9D8B030D-6E8A-4147-A177-3AD203B41FA5}">
                      <a16:colId xmlns:a16="http://schemas.microsoft.com/office/drawing/2014/main" val="20001"/>
                    </a:ext>
                  </a:extLst>
                </a:gridCol>
                <a:gridCol w="4228985">
                  <a:extLst>
                    <a:ext uri="{9D8B030D-6E8A-4147-A177-3AD203B41FA5}">
                      <a16:colId xmlns:a16="http://schemas.microsoft.com/office/drawing/2014/main" val="20002"/>
                    </a:ext>
                  </a:extLst>
                </a:gridCol>
                <a:gridCol w="2349436">
                  <a:extLst>
                    <a:ext uri="{9D8B030D-6E8A-4147-A177-3AD203B41FA5}">
                      <a16:colId xmlns:a16="http://schemas.microsoft.com/office/drawing/2014/main" val="20003"/>
                    </a:ext>
                  </a:extLst>
                </a:gridCol>
              </a:tblGrid>
              <a:tr h="941832">
                <a:tc>
                  <a:txBody>
                    <a:bodyPr/>
                    <a:lstStyle/>
                    <a:p>
                      <a:pPr algn="l"/>
                      <a:r>
                        <a:rPr sz="1400" b="1">
                          <a:solidFill>
                            <a:srgbClr val="FFFFFF"/>
                          </a:solidFill>
                          <a:latin typeface="Calibri"/>
                        </a:rPr>
                        <a:t>Regulator</a:t>
                      </a:r>
                    </a:p>
                  </a:txBody>
                  <a:tcPr marL="64008" marR="64008" marT="27432" marB="27432" anchor="ctr">
                    <a:solidFill>
                      <a:srgbClr val="17A28B"/>
                    </a:solidFill>
                  </a:tcPr>
                </a:tc>
                <a:tc>
                  <a:txBody>
                    <a:bodyPr/>
                    <a:lstStyle/>
                    <a:p>
                      <a:pPr algn="l"/>
                      <a:r>
                        <a:rPr sz="1400" b="1">
                          <a:solidFill>
                            <a:srgbClr val="FFFFFF"/>
                          </a:solidFill>
                          <a:latin typeface="Calibri"/>
                        </a:rPr>
                        <a:t>What's Crawled</a:t>
                      </a:r>
                    </a:p>
                  </a:txBody>
                  <a:tcPr marL="64008" marR="64008" marT="27432" marB="27432" anchor="ctr">
                    <a:solidFill>
                      <a:srgbClr val="17A28B"/>
                    </a:solidFill>
                  </a:tcPr>
                </a:tc>
                <a:tc>
                  <a:txBody>
                    <a:bodyPr/>
                    <a:lstStyle/>
                    <a:p>
                      <a:pPr algn="l"/>
                      <a:r>
                        <a:rPr sz="1400" b="1">
                          <a:solidFill>
                            <a:srgbClr val="FFFFFF"/>
                          </a:solidFill>
                          <a:latin typeface="Calibri"/>
                        </a:rPr>
                        <a:t>Site Behavior That Forced the Choice</a:t>
                      </a:r>
                    </a:p>
                  </a:txBody>
                  <a:tcPr marL="64008" marR="64008" marT="27432" marB="27432" anchor="ctr">
                    <a:solidFill>
                      <a:srgbClr val="17A28B"/>
                    </a:solidFill>
                  </a:tcPr>
                </a:tc>
                <a:tc>
                  <a:txBody>
                    <a:bodyPr/>
                    <a:lstStyle/>
                    <a:p>
                      <a:pPr algn="l"/>
                      <a:r>
                        <a:rPr sz="1400" b="1">
                          <a:solidFill>
                            <a:srgbClr val="FFFFFF"/>
                          </a:solidFill>
                          <a:latin typeface="Calibri"/>
                        </a:rPr>
                        <a:t>Framework</a:t>
                      </a:r>
                    </a:p>
                  </a:txBody>
                  <a:tcPr marL="64008" marR="64008" marT="27432" marB="27432" anchor="ctr">
                    <a:solidFill>
                      <a:srgbClr val="17A28B"/>
                    </a:solidFill>
                  </a:tcPr>
                </a:tc>
                <a:extLst>
                  <a:ext uri="{0D108BD9-81ED-4DB2-BD59-A6C34878D82A}">
                    <a16:rowId xmlns:a16="http://schemas.microsoft.com/office/drawing/2014/main" val="10000"/>
                  </a:ext>
                </a:extLst>
              </a:tr>
              <a:tr h="941832">
                <a:tc>
                  <a:txBody>
                    <a:bodyPr/>
                    <a:lstStyle/>
                    <a:p>
                      <a:r>
                        <a:rPr sz="1300" b="1">
                          <a:solidFill>
                            <a:srgbClr val="2B2B2B"/>
                          </a:solidFill>
                          <a:latin typeface="Calibri"/>
                        </a:rPr>
                        <a:t>CBB</a:t>
                      </a:r>
                    </a:p>
                  </a:txBody>
                  <a:tcPr marL="64008" marR="64008" marT="27432" marB="27432" anchor="ctr">
                    <a:solidFill>
                      <a:srgbClr val="FFFFFF"/>
                    </a:solidFill>
                  </a:tcPr>
                </a:tc>
                <a:tc>
                  <a:txBody>
                    <a:bodyPr/>
                    <a:lstStyle/>
                    <a:p>
                      <a:r>
                        <a:rPr sz="1300" b="0" dirty="0">
                          <a:solidFill>
                            <a:srgbClr val="2B2B2B"/>
                          </a:solidFill>
                          <a:latin typeface="Calibri"/>
                        </a:rPr>
                        <a:t>Rulebook modules, AML law, corporate governance, capital market regulations</a:t>
                      </a:r>
                    </a:p>
                  </a:txBody>
                  <a:tcPr marL="64008" marR="64008" marT="27432" marB="27432" anchor="ctr">
                    <a:solidFill>
                      <a:srgbClr val="FFFFFF"/>
                    </a:solidFill>
                  </a:tcPr>
                </a:tc>
                <a:tc>
                  <a:txBody>
                    <a:bodyPr/>
                    <a:lstStyle/>
                    <a:p>
                      <a:r>
                        <a:rPr sz="1300" b="0" dirty="0">
                          <a:solidFill>
                            <a:srgbClr val="2B2B2B"/>
                          </a:solidFill>
                          <a:latin typeface="Calibri"/>
                        </a:rPr>
                        <a:t>Mostly static, server-rendered HTML with a deep folder/chapter hierarchy</a:t>
                      </a:r>
                    </a:p>
                  </a:txBody>
                  <a:tcPr marL="64008" marR="64008" marT="27432" marB="27432" anchor="ctr">
                    <a:solidFill>
                      <a:srgbClr val="FFFFFF"/>
                    </a:solidFill>
                  </a:tcPr>
                </a:tc>
                <a:tc>
                  <a:txBody>
                    <a:bodyPr/>
                    <a:lstStyle/>
                    <a:p>
                      <a:r>
                        <a:rPr sz="1300" b="0">
                          <a:solidFill>
                            <a:srgbClr val="2B2B2B"/>
                          </a:solidFill>
                          <a:latin typeface="Calibri"/>
                        </a:rPr>
                        <a:t>Requests + BeautifulSoup, 2Captcha</a:t>
                      </a:r>
                    </a:p>
                  </a:txBody>
                  <a:tcPr marL="64008" marR="64008" marT="27432" marB="27432" anchor="ctr">
                    <a:solidFill>
                      <a:srgbClr val="FFFFFF"/>
                    </a:solidFill>
                  </a:tcPr>
                </a:tc>
                <a:extLst>
                  <a:ext uri="{0D108BD9-81ED-4DB2-BD59-A6C34878D82A}">
                    <a16:rowId xmlns:a16="http://schemas.microsoft.com/office/drawing/2014/main" val="10001"/>
                  </a:ext>
                </a:extLst>
              </a:tr>
              <a:tr h="941832">
                <a:tc>
                  <a:txBody>
                    <a:bodyPr/>
                    <a:lstStyle/>
                    <a:p>
                      <a:r>
                        <a:rPr sz="1300" b="1">
                          <a:solidFill>
                            <a:srgbClr val="2B2B2B"/>
                          </a:solidFill>
                          <a:latin typeface="Calibri"/>
                        </a:rPr>
                        <a:t>SAMA</a:t>
                      </a:r>
                    </a:p>
                  </a:txBody>
                  <a:tcPr marL="64008" marR="64008" marT="27432" marB="27432" anchor="ctr">
                    <a:solidFill>
                      <a:srgbClr val="E9EDF0"/>
                    </a:solidFill>
                  </a:tcPr>
                </a:tc>
                <a:tc>
                  <a:txBody>
                    <a:bodyPr/>
                    <a:lstStyle/>
                    <a:p>
                      <a:r>
                        <a:rPr sz="1300" b="0">
                          <a:solidFill>
                            <a:srgbClr val="2B2B2B"/>
                          </a:solidFill>
                          <a:latin typeface="Calibri"/>
                        </a:rPr>
                        <a:t>Circulars, laws, implementing regulations</a:t>
                      </a:r>
                    </a:p>
                  </a:txBody>
                  <a:tcPr marL="64008" marR="64008" marT="27432" marB="27432" anchor="ctr">
                    <a:solidFill>
                      <a:srgbClr val="E9EDF0"/>
                    </a:solidFill>
                  </a:tcPr>
                </a:tc>
                <a:tc>
                  <a:txBody>
                    <a:bodyPr/>
                    <a:lstStyle/>
                    <a:p>
                      <a:r>
                        <a:rPr sz="1300" b="0">
                          <a:solidFill>
                            <a:srgbClr val="2B2B2B"/>
                          </a:solidFill>
                          <a:latin typeface="Calibri"/>
                        </a:rPr>
                        <a:t>JS-rendered navigation and listing pages</a:t>
                      </a:r>
                    </a:p>
                  </a:txBody>
                  <a:tcPr marL="64008" marR="64008" marT="27432" marB="27432" anchor="ctr">
                    <a:solidFill>
                      <a:srgbClr val="E9EDF0"/>
                    </a:solidFill>
                  </a:tcPr>
                </a:tc>
                <a:tc>
                  <a:txBody>
                    <a:bodyPr/>
                    <a:lstStyle/>
                    <a:p>
                      <a:r>
                        <a:rPr sz="1300" b="0">
                          <a:solidFill>
                            <a:srgbClr val="2B2B2B"/>
                          </a:solidFill>
                          <a:latin typeface="Calibri"/>
                        </a:rPr>
                        <a:t>Selenium, 2Captcha</a:t>
                      </a:r>
                    </a:p>
                  </a:txBody>
                  <a:tcPr marL="64008" marR="64008" marT="27432" marB="27432" anchor="ctr">
                    <a:solidFill>
                      <a:srgbClr val="E9EDF0"/>
                    </a:solidFill>
                  </a:tcPr>
                </a:tc>
                <a:extLst>
                  <a:ext uri="{0D108BD9-81ED-4DB2-BD59-A6C34878D82A}">
                    <a16:rowId xmlns:a16="http://schemas.microsoft.com/office/drawing/2014/main" val="10002"/>
                  </a:ext>
                </a:extLst>
              </a:tr>
              <a:tr h="941832">
                <a:tc>
                  <a:txBody>
                    <a:bodyPr/>
                    <a:lstStyle/>
                    <a:p>
                      <a:r>
                        <a:rPr sz="1300" b="1">
                          <a:solidFill>
                            <a:srgbClr val="2B2B2B"/>
                          </a:solidFill>
                          <a:latin typeface="Calibri"/>
                        </a:rPr>
                        <a:t>SBP</a:t>
                      </a:r>
                    </a:p>
                  </a:txBody>
                  <a:tcPr marL="64008" marR="64008" marT="27432" marB="27432" anchor="ctr">
                    <a:solidFill>
                      <a:srgbClr val="FFFFFF"/>
                    </a:solidFill>
                  </a:tcPr>
                </a:tc>
                <a:tc>
                  <a:txBody>
                    <a:bodyPr/>
                    <a:lstStyle/>
                    <a:p>
                      <a:r>
                        <a:rPr sz="1300" b="0">
                          <a:solidFill>
                            <a:srgbClr val="2B2B2B"/>
                          </a:solidFill>
                          <a:latin typeface="Calibri"/>
                        </a:rPr>
                        <a:t>Circulars, notifications, regulatory returns, laws &amp; regulations</a:t>
                      </a:r>
                    </a:p>
                  </a:txBody>
                  <a:tcPr marL="64008" marR="64008" marT="27432" marB="27432" anchor="ctr">
                    <a:solidFill>
                      <a:srgbClr val="FFFFFF"/>
                    </a:solidFill>
                  </a:tcPr>
                </a:tc>
                <a:tc>
                  <a:txBody>
                    <a:bodyPr/>
                    <a:lstStyle/>
                    <a:p>
                      <a:r>
                        <a:rPr sz="1300" b="0">
                          <a:solidFill>
                            <a:srgbClr val="2B2B2B"/>
                          </a:solidFill>
                          <a:latin typeface="Calibri"/>
                        </a:rPr>
                        <a:t>Large paginated archive — suits a structured spider/middleware model</a:t>
                      </a:r>
                    </a:p>
                  </a:txBody>
                  <a:tcPr marL="64008" marR="64008" marT="27432" marB="27432" anchor="ctr">
                    <a:solidFill>
                      <a:srgbClr val="FFFFFF"/>
                    </a:solidFill>
                  </a:tcPr>
                </a:tc>
                <a:tc>
                  <a:txBody>
                    <a:bodyPr/>
                    <a:lstStyle/>
                    <a:p>
                      <a:r>
                        <a:rPr sz="1300" b="0">
                          <a:solidFill>
                            <a:srgbClr val="2B2B2B"/>
                          </a:solidFill>
                          <a:latin typeface="Calibri"/>
                        </a:rPr>
                        <a:t>Scrapy, 2Captcha middleware</a:t>
                      </a:r>
                    </a:p>
                  </a:txBody>
                  <a:tcPr marL="64008" marR="64008" marT="27432" marB="27432" anchor="ctr">
                    <a:solidFill>
                      <a:srgbClr val="FFFFFF"/>
                    </a:solidFill>
                  </a:tcPr>
                </a:tc>
                <a:extLst>
                  <a:ext uri="{0D108BD9-81ED-4DB2-BD59-A6C34878D82A}">
                    <a16:rowId xmlns:a16="http://schemas.microsoft.com/office/drawing/2014/main" val="10003"/>
                  </a:ext>
                </a:extLst>
              </a:tr>
              <a:tr h="941832">
                <a:tc>
                  <a:txBody>
                    <a:bodyPr/>
                    <a:lstStyle/>
                    <a:p>
                      <a:r>
                        <a:rPr sz="1300" b="1">
                          <a:solidFill>
                            <a:srgbClr val="2B2B2B"/>
                          </a:solidFill>
                          <a:latin typeface="Calibri"/>
                        </a:rPr>
                        <a:t>SECP</a:t>
                      </a:r>
                    </a:p>
                  </a:txBody>
                  <a:tcPr marL="64008" marR="64008" marT="27432" marB="27432" anchor="ctr">
                    <a:solidFill>
                      <a:srgbClr val="E9EDF0"/>
                    </a:solidFill>
                  </a:tcPr>
                </a:tc>
                <a:tc>
                  <a:txBody>
                    <a:bodyPr/>
                    <a:lstStyle/>
                    <a:p>
                      <a:r>
                        <a:rPr sz="1300" b="0">
                          <a:solidFill>
                            <a:srgbClr val="2B2B2B"/>
                          </a:solidFill>
                          <a:latin typeface="Calibri"/>
                        </a:rPr>
                        <a:t>Acts, ordinances, rules, directives, circulars</a:t>
                      </a:r>
                    </a:p>
                  </a:txBody>
                  <a:tcPr marL="64008" marR="64008" marT="27432" marB="27432" anchor="ctr">
                    <a:solidFill>
                      <a:srgbClr val="E9EDF0"/>
                    </a:solidFill>
                  </a:tcPr>
                </a:tc>
                <a:tc>
                  <a:txBody>
                    <a:bodyPr/>
                    <a:lstStyle/>
                    <a:p>
                      <a:r>
                        <a:rPr sz="1300" b="0">
                          <a:solidFill>
                            <a:srgbClr val="2B2B2B"/>
                          </a:solidFill>
                          <a:latin typeface="Calibri"/>
                        </a:rPr>
                        <a:t>Modern JS-heavy site needing reliable headless rendering at scale</a:t>
                      </a:r>
                    </a:p>
                  </a:txBody>
                  <a:tcPr marL="64008" marR="64008" marT="27432" marB="27432" anchor="ctr">
                    <a:solidFill>
                      <a:srgbClr val="E9EDF0"/>
                    </a:solidFill>
                  </a:tcPr>
                </a:tc>
                <a:tc>
                  <a:txBody>
                    <a:bodyPr/>
                    <a:lstStyle/>
                    <a:p>
                      <a:r>
                        <a:rPr sz="1300" b="0" dirty="0">
                          <a:solidFill>
                            <a:srgbClr val="2B2B2B"/>
                          </a:solidFill>
                          <a:latin typeface="Calibri"/>
                        </a:rPr>
                        <a:t>Playwright, 2Captcha</a:t>
                      </a:r>
                    </a:p>
                  </a:txBody>
                  <a:tcPr marL="64008" marR="64008" marT="27432" marB="27432" anchor="ctr">
                    <a:solidFill>
                      <a:srgbClr val="E9EDF0"/>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5971032"/>
            <a:ext cx="11277295" cy="411480"/>
          </a:xfrm>
          <a:prstGeom prst="rect">
            <a:avLst/>
          </a:prstGeom>
          <a:noFill/>
        </p:spPr>
        <p:txBody>
          <a:bodyPr wrap="square" lIns="0" tIns="0" rIns="0" bIns="0" anchor="t">
            <a:noAutofit/>
          </a:bodyPr>
          <a:lstStyle/>
          <a:p>
            <a:pPr algn="l"/>
            <a:r>
              <a:rPr sz="1200" b="0" i="1" dirty="0">
                <a:latin typeface="Calibri"/>
              </a:rPr>
              <a:t>Each crawler framework was matched to its regulator's actual site structure rather than forcing a single scraper across all four — a decision confirmed directly against the codebase.</a:t>
            </a:r>
          </a:p>
        </p:txBody>
      </p:sp>
      <p:sp>
        <p:nvSpPr>
          <p:cNvPr id="7" name="Rectangle 6"/>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9" name="TextBox 8"/>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Extraction Strategy: Local vs. Cloud, Routed by Need</a:t>
            </a:r>
          </a:p>
        </p:txBody>
      </p:sp>
      <p:graphicFrame>
        <p:nvGraphicFramePr>
          <p:cNvPr id="5" name="Table 4"/>
          <p:cNvGraphicFramePr>
            <a:graphicFrameLocks noGrp="1"/>
          </p:cNvGraphicFramePr>
          <p:nvPr/>
        </p:nvGraphicFramePr>
        <p:xfrm>
          <a:off x="457200" y="1188720"/>
          <a:ext cx="11277294" cy="329184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4463929">
                  <a:extLst>
                    <a:ext uri="{9D8B030D-6E8A-4147-A177-3AD203B41FA5}">
                      <a16:colId xmlns:a16="http://schemas.microsoft.com/office/drawing/2014/main" val="20001"/>
                    </a:ext>
                  </a:extLst>
                </a:gridCol>
                <a:gridCol w="4933816">
                  <a:extLst>
                    <a:ext uri="{9D8B030D-6E8A-4147-A177-3AD203B41FA5}">
                      <a16:colId xmlns:a16="http://schemas.microsoft.com/office/drawing/2014/main" val="20002"/>
                    </a:ext>
                  </a:extLst>
                </a:gridCol>
              </a:tblGrid>
              <a:tr h="1097280">
                <a:tc>
                  <a:txBody>
                    <a:bodyPr/>
                    <a:lstStyle/>
                    <a:p>
                      <a:pPr algn="l"/>
                      <a:r>
                        <a:rPr sz="1400" b="1">
                          <a:solidFill>
                            <a:srgbClr val="FFFFFF"/>
                          </a:solidFill>
                          <a:latin typeface="Calibri"/>
                        </a:rPr>
                        <a:t>Dimension</a:t>
                      </a:r>
                    </a:p>
                  </a:txBody>
                  <a:tcPr marL="64008" marR="64008" marT="27432" marB="27432" anchor="ctr">
                    <a:solidFill>
                      <a:srgbClr val="17A28B"/>
                    </a:solidFill>
                  </a:tcPr>
                </a:tc>
                <a:tc>
                  <a:txBody>
                    <a:bodyPr/>
                    <a:lstStyle/>
                    <a:p>
                      <a:pPr algn="l"/>
                      <a:r>
                        <a:rPr sz="1400" b="1">
                          <a:solidFill>
                            <a:srgbClr val="FFFFFF"/>
                          </a:solidFill>
                          <a:latin typeface="Calibri"/>
                        </a:rPr>
                        <a:t>Original Design (Local-Only)</a:t>
                      </a:r>
                    </a:p>
                  </a:txBody>
                  <a:tcPr marL="64008" marR="64008" marT="27432" marB="27432" anchor="ctr">
                    <a:solidFill>
                      <a:srgbClr val="17A28B"/>
                    </a:solidFill>
                  </a:tcPr>
                </a:tc>
                <a:tc>
                  <a:txBody>
                    <a:bodyPr/>
                    <a:lstStyle/>
                    <a:p>
                      <a:pPr algn="l"/>
                      <a:r>
                        <a:rPr sz="1400" b="1">
                          <a:solidFill>
                            <a:srgbClr val="FFFFFF"/>
                          </a:solidFill>
                          <a:latin typeface="Calibri"/>
                        </a:rPr>
                        <a:t>Current Design (Routed by Need)</a:t>
                      </a:r>
                    </a:p>
                  </a:txBody>
                  <a:tcPr marL="64008" marR="64008" marT="27432" marB="27432" anchor="ctr">
                    <a:solidFill>
                      <a:srgbClr val="17A28B"/>
                    </a:solidFill>
                  </a:tcPr>
                </a:tc>
                <a:extLst>
                  <a:ext uri="{0D108BD9-81ED-4DB2-BD59-A6C34878D82A}">
                    <a16:rowId xmlns:a16="http://schemas.microsoft.com/office/drawing/2014/main" val="10000"/>
                  </a:ext>
                </a:extLst>
              </a:tr>
              <a:tr h="1097280">
                <a:tc>
                  <a:txBody>
                    <a:bodyPr/>
                    <a:lstStyle/>
                    <a:p>
                      <a:r>
                        <a:rPr sz="1300" b="1">
                          <a:solidFill>
                            <a:srgbClr val="2B2B2B"/>
                          </a:solidFill>
                          <a:latin typeface="Calibri"/>
                        </a:rPr>
                        <a:t>Formatting fidelity</a:t>
                      </a:r>
                    </a:p>
                  </a:txBody>
                  <a:tcPr marL="64008" marR="64008" marT="27432" marB="27432" anchor="ctr">
                    <a:solidFill>
                      <a:srgbClr val="FFFFFF"/>
                    </a:solidFill>
                  </a:tcPr>
                </a:tc>
                <a:tc>
                  <a:txBody>
                    <a:bodyPr/>
                    <a:lstStyle/>
                    <a:p>
                      <a:r>
                        <a:rPr sz="1300" b="0">
                          <a:solidFill>
                            <a:srgbClr val="2B2B2B"/>
                          </a:solidFill>
                          <a:latin typeface="Calibri"/>
                        </a:rPr>
                        <a:t>Tables, multi-column layouts and nested headers frequently collapsed or merged when extracted locally</a:t>
                      </a:r>
                    </a:p>
                  </a:txBody>
                  <a:tcPr marL="64008" marR="64008" marT="27432" marB="27432" anchor="ctr">
                    <a:solidFill>
                      <a:srgbClr val="FFFFFF"/>
                    </a:solidFill>
                  </a:tcPr>
                </a:tc>
                <a:tc>
                  <a:txBody>
                    <a:bodyPr/>
                    <a:lstStyle/>
                    <a:p>
                      <a:r>
                        <a:rPr sz="1300" b="0">
                          <a:solidFill>
                            <a:srgbClr val="2B2B2B"/>
                          </a:solidFill>
                          <a:latin typeface="Calibri"/>
                        </a:rPr>
                        <a:t>PDF.co (cloud, format-preserving) is primary wherever the output must stay structured HTML</a:t>
                      </a:r>
                    </a:p>
                  </a:txBody>
                  <a:tcPr marL="64008" marR="64008" marT="27432" marB="27432" anchor="ctr">
                    <a:solidFill>
                      <a:srgbClr val="FFFFFF"/>
                    </a:solidFill>
                  </a:tcPr>
                </a:tc>
                <a:extLst>
                  <a:ext uri="{0D108BD9-81ED-4DB2-BD59-A6C34878D82A}">
                    <a16:rowId xmlns:a16="http://schemas.microsoft.com/office/drawing/2014/main" val="10001"/>
                  </a:ext>
                </a:extLst>
              </a:tr>
              <a:tr h="1097280">
                <a:tc>
                  <a:txBody>
                    <a:bodyPr/>
                    <a:lstStyle/>
                    <a:p>
                      <a:r>
                        <a:rPr sz="1300" b="1">
                          <a:solidFill>
                            <a:srgbClr val="2B2B2B"/>
                          </a:solidFill>
                          <a:latin typeface="Calibri"/>
                        </a:rPr>
                        <a:t>Cost</a:t>
                      </a:r>
                    </a:p>
                  </a:txBody>
                  <a:tcPr marL="64008" marR="64008" marT="27432" marB="27432" anchor="ctr">
                    <a:solidFill>
                      <a:srgbClr val="E9EDF0"/>
                    </a:solidFill>
                  </a:tcPr>
                </a:tc>
                <a:tc>
                  <a:txBody>
                    <a:bodyPr/>
                    <a:lstStyle/>
                    <a:p>
                      <a:r>
                        <a:rPr sz="1300" b="0">
                          <a:solidFill>
                            <a:srgbClr val="2B2B2B"/>
                          </a:solidFill>
                          <a:latin typeface="Calibri"/>
                        </a:rPr>
                        <a:t>Free — local compute only (PyMuPDF for digital, Tesseract OCR for scanned)</a:t>
                      </a:r>
                    </a:p>
                  </a:txBody>
                  <a:tcPr marL="64008" marR="64008" marT="27432" marB="27432" anchor="ctr">
                    <a:solidFill>
                      <a:srgbClr val="E9EDF0"/>
                    </a:solidFill>
                  </a:tcPr>
                </a:tc>
                <a:tc>
                  <a:txBody>
                    <a:bodyPr/>
                    <a:lstStyle/>
                    <a:p>
                      <a:r>
                        <a:rPr sz="1300" b="0">
                          <a:solidFill>
                            <a:srgbClr val="2B2B2B"/>
                          </a:solidFill>
                          <a:latin typeface="Calibri"/>
                        </a:rPr>
                        <a:t>PDF.co is paid per page/credit, but only spent where formatting genuinely matters</a:t>
                      </a:r>
                    </a:p>
                  </a:txBody>
                  <a:tcPr marL="64008" marR="64008" marT="27432" marB="27432" anchor="ctr">
                    <a:solidFill>
                      <a:srgbClr val="E9EDF0"/>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4553712"/>
            <a:ext cx="11277295" cy="411480"/>
          </a:xfrm>
          <a:prstGeom prst="rect">
            <a:avLst/>
          </a:prstGeom>
          <a:noFill/>
        </p:spPr>
        <p:txBody>
          <a:bodyPr wrap="square" lIns="0" tIns="0" rIns="0" bIns="0" anchor="t">
            <a:noAutofit/>
          </a:bodyPr>
          <a:lstStyle/>
          <a:p>
            <a:pPr algn="l"/>
            <a:r>
              <a:rPr lang="en-US" sz="1400" b="1" dirty="0">
                <a:latin typeface="Calibri"/>
              </a:rPr>
              <a:t>I</a:t>
            </a:r>
            <a:r>
              <a:rPr sz="1400" b="1" dirty="0">
                <a:latin typeface="Calibri"/>
              </a:rPr>
              <a:t>mplementation history: the local-only approach was tried first and failed specifically on formatting fidelity, not on raw text accuracy — which is exactly why PDF.co became the primary engine for the formatting-sensitive path.</a:t>
            </a:r>
          </a:p>
        </p:txBody>
      </p:sp>
      <p:sp>
        <p:nvSpPr>
          <p:cNvPr id="7" name="TextBox 6"/>
          <p:cNvSpPr txBox="1"/>
          <p:nvPr/>
        </p:nvSpPr>
        <p:spPr>
          <a:xfrm>
            <a:off x="457200" y="5136794"/>
            <a:ext cx="11134420" cy="1064972"/>
          </a:xfrm>
          <a:prstGeom prst="rect">
            <a:avLst/>
          </a:prstGeom>
          <a:noFill/>
        </p:spPr>
        <p:txBody>
          <a:bodyPr wrap="square">
            <a:spAutoFit/>
          </a:bodyPr>
          <a:lstStyle/>
          <a:p>
            <a:pPr>
              <a:lnSpc>
                <a:spcPct val="105000"/>
              </a:lnSpc>
              <a:spcAft>
                <a:spcPts val="600"/>
              </a:spcAft>
            </a:pPr>
            <a:r>
              <a:rPr sz="1400" dirty="0">
                <a:solidFill>
                  <a:srgbClr val="2B2B2B"/>
                </a:solidFill>
                <a:latin typeface="Calibri"/>
              </a:rPr>
              <a:t>–   Local extraction is still used today wherever the output only needs to feed the LLM as plain text — formatting doesn't matter there, so the free path is faster and </a:t>
            </a:r>
            <a:r>
              <a:rPr sz="1400" dirty="0" err="1">
                <a:solidFill>
                  <a:srgbClr val="2B2B2B"/>
                </a:solidFill>
                <a:latin typeface="Calibri"/>
              </a:rPr>
              <a:t>PDF.co's</a:t>
            </a:r>
            <a:r>
              <a:rPr sz="1400" dirty="0">
                <a:solidFill>
                  <a:srgbClr val="2B2B2B"/>
                </a:solidFill>
                <a:latin typeface="Calibri"/>
              </a:rPr>
              <a:t> per-page cost isn't justified.</a:t>
            </a:r>
          </a:p>
          <a:p>
            <a:pPr>
              <a:lnSpc>
                <a:spcPct val="105000"/>
              </a:lnSpc>
              <a:spcAft>
                <a:spcPts val="600"/>
              </a:spcAft>
            </a:pPr>
            <a:r>
              <a:rPr sz="1400" dirty="0">
                <a:solidFill>
                  <a:srgbClr val="2B2B2B"/>
                </a:solidFill>
                <a:latin typeface="Calibri"/>
              </a:rPr>
              <a:t>–   If PDF.co fails for any reason, the pipeline automatically falls back to local </a:t>
            </a:r>
            <a:r>
              <a:rPr sz="1400" dirty="0" err="1">
                <a:solidFill>
                  <a:srgbClr val="2B2B2B"/>
                </a:solidFill>
                <a:latin typeface="Calibri"/>
              </a:rPr>
              <a:t>PyMuPDF</a:t>
            </a:r>
            <a:r>
              <a:rPr sz="1400" dirty="0">
                <a:solidFill>
                  <a:srgbClr val="2B2B2B"/>
                </a:solidFill>
                <a:latin typeface="Calibri"/>
              </a:rPr>
              <a:t> for digital PDFs or Tesseract OCR for scanned PDFs, so a single vendor issue doesn't stop extraction.</a:t>
            </a:r>
          </a:p>
        </p:txBody>
      </p:sp>
      <p:sp>
        <p:nvSpPr>
          <p:cNvPr id="8" name="Rectangle 7"/>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10" name="TextBox 9"/>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System Architecture</a:t>
            </a:r>
          </a:p>
        </p:txBody>
      </p:sp>
      <p:sp>
        <p:nvSpPr>
          <p:cNvPr id="5" name="Rounded Rectangle 4"/>
          <p:cNvSpPr/>
          <p:nvPr/>
        </p:nvSpPr>
        <p:spPr>
          <a:xfrm>
            <a:off x="457200"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1. Crawl</a:t>
            </a:r>
          </a:p>
          <a:p>
            <a:pPr algn="ctr">
              <a:spcBef>
                <a:spcPts val="600"/>
              </a:spcBef>
            </a:pPr>
            <a:r>
              <a:rPr sz="1000">
                <a:solidFill>
                  <a:srgbClr val="FFFFFF"/>
                </a:solidFill>
                <a:latin typeface="Calibri"/>
              </a:rPr>
              <a:t>Fetch documents per regulator</a:t>
            </a:r>
          </a:p>
        </p:txBody>
      </p:sp>
      <p:sp>
        <p:nvSpPr>
          <p:cNvPr id="6" name="Right Arrow 5"/>
          <p:cNvSpPr/>
          <p:nvPr/>
        </p:nvSpPr>
        <p:spPr>
          <a:xfrm>
            <a:off x="2108149"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2469"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2. Filter</a:t>
            </a:r>
          </a:p>
          <a:p>
            <a:pPr algn="ctr">
              <a:spcBef>
                <a:spcPts val="600"/>
              </a:spcBef>
            </a:pPr>
            <a:r>
              <a:rPr sz="1000">
                <a:solidFill>
                  <a:srgbClr val="FFFFFF"/>
                </a:solidFill>
                <a:latin typeface="Calibri"/>
              </a:rPr>
              <a:t>Deduplicate against existing records</a:t>
            </a:r>
          </a:p>
        </p:txBody>
      </p:sp>
      <p:sp>
        <p:nvSpPr>
          <p:cNvPr id="8" name="Right Arrow 7"/>
          <p:cNvSpPr/>
          <p:nvPr/>
        </p:nvSpPr>
        <p:spPr>
          <a:xfrm>
            <a:off x="4033418"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07738"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3. Insert
(Metadata)</a:t>
            </a:r>
          </a:p>
          <a:p>
            <a:pPr algn="ctr">
              <a:spcBef>
                <a:spcPts val="600"/>
              </a:spcBef>
            </a:pPr>
            <a:r>
              <a:rPr sz="1000">
                <a:solidFill>
                  <a:srgbClr val="FFFFFF"/>
                </a:solidFill>
                <a:latin typeface="Calibri"/>
              </a:rPr>
              <a:t>Store the regulation and its metadata</a:t>
            </a:r>
          </a:p>
        </p:txBody>
      </p:sp>
      <p:sp>
        <p:nvSpPr>
          <p:cNvPr id="10" name="Right Arrow 9"/>
          <p:cNvSpPr/>
          <p:nvPr/>
        </p:nvSpPr>
        <p:spPr>
          <a:xfrm>
            <a:off x="5958687"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33007"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4. Extract</a:t>
            </a:r>
          </a:p>
          <a:p>
            <a:pPr algn="ctr">
              <a:spcBef>
                <a:spcPts val="600"/>
              </a:spcBef>
            </a:pPr>
            <a:r>
              <a:rPr sz="1000">
                <a:solidFill>
                  <a:srgbClr val="FFFFFF"/>
                </a:solidFill>
                <a:latin typeface="Calibri"/>
              </a:rPr>
              <a:t>Resolve full text via the 3-tier strategy</a:t>
            </a:r>
          </a:p>
        </p:txBody>
      </p:sp>
      <p:sp>
        <p:nvSpPr>
          <p:cNvPr id="12" name="Right Arrow 11"/>
          <p:cNvSpPr/>
          <p:nvPr/>
        </p:nvSpPr>
        <p:spPr>
          <a:xfrm>
            <a:off x="7883956"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58276"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5. Analyze</a:t>
            </a:r>
          </a:p>
          <a:p>
            <a:pPr algn="ctr">
              <a:spcBef>
                <a:spcPts val="600"/>
              </a:spcBef>
            </a:pPr>
            <a:r>
              <a:rPr sz="1000">
                <a:solidFill>
                  <a:srgbClr val="FFFFFF"/>
                </a:solidFill>
                <a:latin typeface="Calibri"/>
              </a:rPr>
              <a:t>UC-15: 3-stage LLM extraction</a:t>
            </a:r>
          </a:p>
        </p:txBody>
      </p:sp>
      <p:sp>
        <p:nvSpPr>
          <p:cNvPr id="14" name="Right Arrow 13"/>
          <p:cNvSpPr/>
          <p:nvPr/>
        </p:nvSpPr>
        <p:spPr>
          <a:xfrm>
            <a:off x="9809225"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083545" y="2606040"/>
            <a:ext cx="1650949" cy="1691640"/>
          </a:xfrm>
          <a:prstGeom prst="round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6. Match</a:t>
            </a:r>
          </a:p>
          <a:p>
            <a:pPr algn="ctr">
              <a:spcBef>
                <a:spcPts val="600"/>
              </a:spcBef>
            </a:pPr>
            <a:r>
              <a:rPr sz="1000">
                <a:solidFill>
                  <a:srgbClr val="FFFFFF"/>
                </a:solidFill>
                <a:latin typeface="Calibri"/>
              </a:rPr>
              <a:t>Cross-reference existing controls and KPIs</a:t>
            </a:r>
          </a:p>
        </p:txBody>
      </p:sp>
      <p:sp>
        <p:nvSpPr>
          <p:cNvPr id="16" name="TextBox 15"/>
          <p:cNvSpPr txBox="1"/>
          <p:nvPr/>
        </p:nvSpPr>
        <p:spPr>
          <a:xfrm>
            <a:off x="457200" y="4572000"/>
            <a:ext cx="11277295" cy="1280160"/>
          </a:xfrm>
          <a:prstGeom prst="rect">
            <a:avLst/>
          </a:prstGeom>
          <a:noFill/>
        </p:spPr>
        <p:txBody>
          <a:bodyPr wrap="square" lIns="0" tIns="0" rIns="0" bIns="0" anchor="t">
            <a:noAutofit/>
          </a:bodyPr>
          <a:lstStyle/>
          <a:p>
            <a:pPr algn="l"/>
            <a:endParaRPr sz="1250" b="0" i="0" dirty="0">
              <a:solidFill>
                <a:srgbClr val="2B2B2B"/>
              </a:solidFill>
              <a:latin typeface="Calibri"/>
            </a:endParaRPr>
          </a:p>
        </p:txBody>
      </p:sp>
      <p:sp>
        <p:nvSpPr>
          <p:cNvPr id="17" name="Rectangle 16"/>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19" name="TextBox 18"/>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System Architecture: Phase Details</a:t>
            </a:r>
          </a:p>
        </p:txBody>
      </p:sp>
      <p:sp>
        <p:nvSpPr>
          <p:cNvPr id="5" name="TextBox 4"/>
          <p:cNvSpPr txBox="1"/>
          <p:nvPr/>
        </p:nvSpPr>
        <p:spPr>
          <a:xfrm>
            <a:off x="457200" y="1280160"/>
            <a:ext cx="11277295" cy="5275740"/>
          </a:xfrm>
          <a:prstGeom prst="rect">
            <a:avLst/>
          </a:prstGeom>
          <a:noFill/>
        </p:spPr>
        <p:txBody>
          <a:bodyPr wrap="square">
            <a:spAutoFit/>
          </a:bodyPr>
          <a:lstStyle/>
          <a:p>
            <a:pPr>
              <a:lnSpc>
                <a:spcPct val="110000"/>
              </a:lnSpc>
              <a:spcAft>
                <a:spcPts val="900"/>
              </a:spcAft>
            </a:pPr>
            <a:r>
              <a:rPr lang="en-US" sz="1400" dirty="0">
                <a:solidFill>
                  <a:srgbClr val="2B2B2B"/>
                </a:solidFill>
              </a:rPr>
              <a:t>•   </a:t>
            </a:r>
            <a:r>
              <a:rPr lang="en-US" sz="1400" b="1" dirty="0">
                <a:solidFill>
                  <a:srgbClr val="2B2B2B"/>
                </a:solidFill>
              </a:rPr>
              <a:t>Crawl: </a:t>
            </a:r>
            <a:r>
              <a:rPr lang="en-US" sz="1400" dirty="0">
                <a:solidFill>
                  <a:srgbClr val="2B2B2B"/>
                </a:solidFill>
              </a:rPr>
              <a:t>each regulator has its own crawler, covered earlier, that fetches documents from its website on a schedule and hands them to the orchestrator as a list of candidate documents.</a:t>
            </a:r>
          </a:p>
          <a:p>
            <a:pPr>
              <a:lnSpc>
                <a:spcPct val="110000"/>
              </a:lnSpc>
              <a:spcAft>
                <a:spcPts val="900"/>
              </a:spcAft>
            </a:pPr>
            <a:r>
              <a:rPr lang="en-US" sz="1400" b="1" dirty="0">
                <a:solidFill>
                  <a:srgbClr val="2B2B2B"/>
                </a:solidFill>
              </a:rPr>
              <a:t>•   Filter: </a:t>
            </a:r>
            <a:r>
              <a:rPr lang="en-US" sz="1400" dirty="0">
                <a:solidFill>
                  <a:srgbClr val="2B2B2B"/>
                </a:solidFill>
              </a:rPr>
              <a:t>the orchestrator checks each candidate against what's already stored — by source URL for CBB, or by title, publication date, and document path for the others — so only new or modified documents continue.</a:t>
            </a:r>
          </a:p>
          <a:p>
            <a:pPr>
              <a:lnSpc>
                <a:spcPct val="110000"/>
              </a:lnSpc>
              <a:spcAft>
                <a:spcPts val="900"/>
              </a:spcAft>
            </a:pPr>
            <a:r>
              <a:rPr lang="en-US" sz="1400" dirty="0">
                <a:solidFill>
                  <a:srgbClr val="2B2B2B"/>
                </a:solidFill>
              </a:rPr>
              <a:t>• </a:t>
            </a:r>
            <a:r>
              <a:rPr lang="en-US" sz="1400" b="1" dirty="0">
                <a:solidFill>
                  <a:srgbClr val="2B2B2B"/>
                </a:solidFill>
              </a:rPr>
              <a:t>  Insert with Metadata: </a:t>
            </a:r>
            <a:r>
              <a:rPr lang="en-US" sz="1400" dirty="0">
                <a:solidFill>
                  <a:srgbClr val="2B2B2B"/>
                </a:solidFill>
              </a:rPr>
              <a:t>a database record is created for the document, capturing its regulator, category, title, reference number, publication date, and source URL. For CBB specifically, this step also versions the content: because CBB's rulebook gets edited rather than only republished, any change first archives the prior content and prior analysis before writing the new version, so nothing is silently overwritten. The database currently holds 29,471 CBB content versions for 29,469 CBB documents, with only two marked inactive — meaning exactly one document has actually been revised since the initial crawl. SAMA, SBP, and SECP are not versioned this way; their documents are treated as point-in-time snapshots.</a:t>
            </a:r>
          </a:p>
          <a:p>
            <a:pPr>
              <a:lnSpc>
                <a:spcPct val="110000"/>
              </a:lnSpc>
              <a:spcAft>
                <a:spcPts val="900"/>
              </a:spcAft>
            </a:pPr>
            <a:r>
              <a:rPr lang="en-US" sz="1400" b="1" dirty="0">
                <a:solidFill>
                  <a:srgbClr val="2B2B2B"/>
                </a:solidFill>
              </a:rPr>
              <a:t>•   Extract: </a:t>
            </a:r>
            <a:r>
              <a:rPr lang="en-US" sz="1400" dirty="0">
                <a:solidFill>
                  <a:srgbClr val="2B2B2B"/>
                </a:solidFill>
              </a:rPr>
              <a:t>the document's full text is resolved through a 3-tier strategy, so the analysis stage always receives usable text without an unnecessary live download. Tier 1 checks for text already extracted and cached, such as SAMA's pre-</a:t>
            </a:r>
            <a:r>
              <a:rPr lang="en-US" sz="1400" dirty="0" err="1">
                <a:solidFill>
                  <a:srgbClr val="2B2B2B"/>
                </a:solidFill>
              </a:rPr>
              <a:t>OCR'd</a:t>
            </a:r>
            <a:r>
              <a:rPr lang="en-US" sz="1400" dirty="0">
                <a:solidFill>
                  <a:srgbClr val="2B2B2B"/>
                </a:solidFill>
              </a:rPr>
              <a:t> PDF text or CBB's stored content. Tier 2 falls back to the stored HTML column. Tier 3, used only if the first two come up short, downloads the document live and extracts it, applying OCR if needed. Each tier only runs if the previous one returned fewer than two hundred characters, so most documents resolve at Tier 1 or 2.</a:t>
            </a:r>
          </a:p>
          <a:p>
            <a:pPr>
              <a:lnSpc>
                <a:spcPct val="110000"/>
              </a:lnSpc>
              <a:spcAft>
                <a:spcPts val="900"/>
              </a:spcAft>
            </a:pPr>
            <a:r>
              <a:rPr lang="en-US" sz="1400" b="1" dirty="0">
                <a:solidFill>
                  <a:srgbClr val="2B2B2B"/>
                </a:solidFill>
              </a:rPr>
              <a:t>•   Analyze: </a:t>
            </a:r>
            <a:r>
              <a:rPr lang="en-US" sz="1400" dirty="0">
                <a:solidFill>
                  <a:srgbClr val="2B2B2B"/>
                </a:solidFill>
              </a:rPr>
              <a:t>the extracted text is handed to UC-15, the 3-stage LLM extraction engine. The model used is DeepSeek v3.2 via </a:t>
            </a:r>
            <a:r>
              <a:rPr lang="en-US" sz="1400" dirty="0" err="1">
                <a:solidFill>
                  <a:srgbClr val="2B2B2B"/>
                </a:solidFill>
              </a:rPr>
              <a:t>OpenRouter</a:t>
            </a:r>
            <a:r>
              <a:rPr lang="en-US" sz="1400" dirty="0">
                <a:solidFill>
                  <a:srgbClr val="2B2B2B"/>
                </a:solidFill>
              </a:rPr>
              <a:t>, chosen because it delivers balanced performance on classification and structuring tasks at a meaningfully lower cost than Claude or GPT-4-class models — important for a workload that calls the model multiple times per document across thousands of documents.</a:t>
            </a:r>
          </a:p>
          <a:p>
            <a:pPr>
              <a:lnSpc>
                <a:spcPct val="110000"/>
              </a:lnSpc>
              <a:spcAft>
                <a:spcPts val="900"/>
              </a:spcAft>
            </a:pPr>
            <a:r>
              <a:rPr lang="en-US" sz="1400" b="1" dirty="0">
                <a:solidFill>
                  <a:srgbClr val="2B2B2B"/>
                </a:solidFill>
              </a:rPr>
              <a:t>•   Match: </a:t>
            </a:r>
            <a:r>
              <a:rPr lang="en-US" sz="1400" dirty="0">
                <a:solidFill>
                  <a:srgbClr val="2B2B2B"/>
                </a:solidFill>
              </a:rPr>
              <a:t>each extracted requirement is cross-referenced against the bank's existing requirements, controls, and KPIs, and is flagged as fully matched, partially matched, or new.</a:t>
            </a:r>
          </a:p>
          <a:p>
            <a:pPr>
              <a:lnSpc>
                <a:spcPct val="110000"/>
              </a:lnSpc>
              <a:spcAft>
                <a:spcPts val="1400"/>
              </a:spcAft>
            </a:pPr>
            <a:endParaRPr sz="1400" dirty="0">
              <a:solidFill>
                <a:srgbClr val="2B2B2B"/>
              </a:solidFill>
              <a:latin typeface="Calibri"/>
            </a:endParaRP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563A9-C1AA-55E2-0F51-2CAC930BA0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B46D75-D2A3-A3BF-4009-1EF8B6EC70A6}"/>
              </a:ext>
            </a:extLst>
          </p:cNvPr>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8D434E3-69B3-3B4A-E752-DC2203A68551}"/>
              </a:ext>
            </a:extLst>
          </p:cNvPr>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799E2AA-6376-0B24-9C04-F760A9E53FDE}"/>
              </a:ext>
            </a:extLst>
          </p:cNvPr>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System Architecture: Phase Details</a:t>
            </a:r>
          </a:p>
        </p:txBody>
      </p:sp>
      <p:sp>
        <p:nvSpPr>
          <p:cNvPr id="5" name="TextBox 4">
            <a:extLst>
              <a:ext uri="{FF2B5EF4-FFF2-40B4-BE49-F238E27FC236}">
                <a16:creationId xmlns:a16="http://schemas.microsoft.com/office/drawing/2014/main" id="{67E44A5A-9416-FCA2-238A-E95ED65C7B3C}"/>
              </a:ext>
            </a:extLst>
          </p:cNvPr>
          <p:cNvSpPr txBox="1"/>
          <p:nvPr/>
        </p:nvSpPr>
        <p:spPr>
          <a:xfrm>
            <a:off x="457200" y="1280160"/>
            <a:ext cx="11277295" cy="2994666"/>
          </a:xfrm>
          <a:prstGeom prst="rect">
            <a:avLst/>
          </a:prstGeom>
          <a:noFill/>
        </p:spPr>
        <p:txBody>
          <a:bodyPr wrap="square">
            <a:spAutoFit/>
          </a:bodyPr>
          <a:lstStyle/>
          <a:p>
            <a:pPr>
              <a:lnSpc>
                <a:spcPct val="110000"/>
              </a:lnSpc>
              <a:spcAft>
                <a:spcPts val="900"/>
              </a:spcAft>
            </a:pPr>
            <a:r>
              <a:rPr lang="en-US" sz="2000" dirty="0">
                <a:solidFill>
                  <a:srgbClr val="2B2B2B"/>
                </a:solidFill>
              </a:rPr>
              <a:t>•   </a:t>
            </a:r>
            <a:r>
              <a:rPr lang="en-US" sz="2400" b="1" dirty="0">
                <a:solidFill>
                  <a:srgbClr val="2B2B2B"/>
                </a:solidFill>
              </a:rPr>
              <a:t>Crawl: </a:t>
            </a:r>
            <a:r>
              <a:rPr lang="en-US" sz="2000" dirty="0">
                <a:solidFill>
                  <a:srgbClr val="2B2B2B"/>
                </a:solidFill>
              </a:rPr>
              <a:t>each regulator has its own crawler, covered earlier, that fetches documents from its website on a schedule and hands them to the orchestrator as a list of candidate documents.</a:t>
            </a:r>
          </a:p>
          <a:p>
            <a:pPr>
              <a:lnSpc>
                <a:spcPct val="110000"/>
              </a:lnSpc>
              <a:spcAft>
                <a:spcPts val="900"/>
              </a:spcAft>
            </a:pPr>
            <a:r>
              <a:rPr lang="en-US" sz="2000" dirty="0">
                <a:solidFill>
                  <a:srgbClr val="2B2B2B"/>
                </a:solidFill>
              </a:rPr>
              <a:t>•   </a:t>
            </a:r>
            <a:r>
              <a:rPr lang="en-US" sz="2400" b="1" dirty="0">
                <a:solidFill>
                  <a:srgbClr val="2B2B2B"/>
                </a:solidFill>
              </a:rPr>
              <a:t>Filter: </a:t>
            </a:r>
            <a:r>
              <a:rPr lang="en-US" sz="2000" dirty="0">
                <a:solidFill>
                  <a:srgbClr val="2B2B2B"/>
                </a:solidFill>
              </a:rPr>
              <a:t>the orchestrator checks each candidate against what's already stored — by source URL for CBB, or by title, publication date, and document path for the others — so only new or modified documents continue.</a:t>
            </a:r>
          </a:p>
          <a:p>
            <a:pPr>
              <a:lnSpc>
                <a:spcPct val="110000"/>
              </a:lnSpc>
              <a:spcAft>
                <a:spcPts val="900"/>
              </a:spcAft>
            </a:pPr>
            <a:r>
              <a:rPr lang="en-US" sz="2000" dirty="0">
                <a:solidFill>
                  <a:srgbClr val="2B2B2B"/>
                </a:solidFill>
              </a:rPr>
              <a:t>•   </a:t>
            </a:r>
            <a:r>
              <a:rPr lang="en-US" sz="2400" b="1" dirty="0">
                <a:solidFill>
                  <a:srgbClr val="2B2B2B"/>
                </a:solidFill>
              </a:rPr>
              <a:t>Insert with Metadata:</a:t>
            </a:r>
          </a:p>
          <a:p>
            <a:pPr>
              <a:lnSpc>
                <a:spcPct val="110000"/>
              </a:lnSpc>
              <a:spcAft>
                <a:spcPts val="900"/>
              </a:spcAft>
            </a:pPr>
            <a:endParaRPr sz="2000" dirty="0">
              <a:solidFill>
                <a:srgbClr val="2B2B2B"/>
              </a:solidFill>
              <a:latin typeface="Calibri"/>
            </a:endParaRPr>
          </a:p>
        </p:txBody>
      </p:sp>
      <p:sp>
        <p:nvSpPr>
          <p:cNvPr id="6" name="Rectangle 5">
            <a:extLst>
              <a:ext uri="{FF2B5EF4-FFF2-40B4-BE49-F238E27FC236}">
                <a16:creationId xmlns:a16="http://schemas.microsoft.com/office/drawing/2014/main" id="{69BE834A-20EE-52A0-5A40-C97EC9373E6C}"/>
              </a:ext>
            </a:extLst>
          </p:cNvPr>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07EC958B-4ABB-868A-C934-51789B3CB63F}"/>
              </a:ext>
            </a:extLst>
          </p:cNvPr>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a:extLst>
              <a:ext uri="{FF2B5EF4-FFF2-40B4-BE49-F238E27FC236}">
                <a16:creationId xmlns:a16="http://schemas.microsoft.com/office/drawing/2014/main" id="{ED027A6D-B51C-08F6-392D-70C95539AE82}"/>
              </a:ext>
            </a:extLst>
          </p:cNvPr>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9</a:t>
            </a:r>
          </a:p>
        </p:txBody>
      </p:sp>
      <p:sp>
        <p:nvSpPr>
          <p:cNvPr id="11" name="Rectangle 3">
            <a:extLst>
              <a:ext uri="{FF2B5EF4-FFF2-40B4-BE49-F238E27FC236}">
                <a16:creationId xmlns:a16="http://schemas.microsoft.com/office/drawing/2014/main" id="{A7382030-FDD4-46D0-2C03-C1E3D93F044F}"/>
              </a:ext>
            </a:extLst>
          </p:cNvPr>
          <p:cNvSpPr>
            <a:spLocks noChangeArrowheads="1"/>
          </p:cNvSpPr>
          <p:nvPr/>
        </p:nvSpPr>
        <p:spPr bwMode="auto">
          <a:xfrm>
            <a:off x="723900" y="3639396"/>
            <a:ext cx="11010595" cy="276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dirty="0"/>
              <a:t>A database record is created for each document containing:</a:t>
            </a:r>
            <a:r>
              <a:rPr lang="en-US" dirty="0">
                <a:latin typeface="Arial" panose="020B0604020202020204" pitchFamily="34" charset="0"/>
              </a:rPr>
              <a:t> </a:t>
            </a:r>
            <a:r>
              <a:rPr lang="en-US" sz="1600" dirty="0" err="1">
                <a:latin typeface="Arial" panose="020B0604020202020204" pitchFamily="34" charset="0"/>
              </a:rPr>
              <a:t>r</a:t>
            </a:r>
            <a:r>
              <a:rPr kumimoji="0" lang="en-US" altLang="en-US" sz="1600" b="0" i="0" u="none" strike="noStrike" cap="none" normalizeH="0" baseline="0" dirty="0" err="1">
                <a:ln>
                  <a:noFill/>
                </a:ln>
                <a:solidFill>
                  <a:schemeClr val="tx1"/>
                </a:solidFill>
                <a:effectLst/>
                <a:latin typeface="Arial" panose="020B0604020202020204" pitchFamily="34" charset="0"/>
              </a:rPr>
              <a:t>egulator,</a:t>
            </a:r>
            <a:r>
              <a:rPr lang="en-US" altLang="en-US" sz="1600" dirty="0" err="1">
                <a:latin typeface="Arial" panose="020B0604020202020204" pitchFamily="34" charset="0"/>
              </a:rPr>
              <a:t>c</a:t>
            </a:r>
            <a:r>
              <a:rPr kumimoji="0" lang="en-US" altLang="en-US" sz="1600" b="0" i="0" u="none" strike="noStrike" cap="none" normalizeH="0" baseline="0" dirty="0" err="1">
                <a:ln>
                  <a:noFill/>
                </a:ln>
                <a:solidFill>
                  <a:schemeClr val="tx1"/>
                </a:solidFill>
                <a:effectLst/>
                <a:latin typeface="Arial" panose="020B0604020202020204" pitchFamily="34" charset="0"/>
              </a:rPr>
              <a:t>ategory</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altLang="en-US" sz="1600" dirty="0">
                <a:latin typeface="Arial" panose="020B0604020202020204" pitchFamily="34" charset="0"/>
              </a:rPr>
              <a:t>t</a:t>
            </a:r>
            <a:r>
              <a:rPr kumimoji="0" lang="en-US" altLang="en-US" sz="1600" b="0" i="0" u="none" strike="noStrike" cap="none" normalizeH="0" baseline="0" dirty="0">
                <a:ln>
                  <a:noFill/>
                </a:ln>
                <a:solidFill>
                  <a:schemeClr val="tx1"/>
                </a:solidFill>
                <a:effectLst/>
                <a:latin typeface="Arial" panose="020B0604020202020204" pitchFamily="34" charset="0"/>
              </a:rPr>
              <a:t>itle </a:t>
            </a:r>
            <a:r>
              <a:rPr lang="en-US" altLang="en-US" sz="1600" dirty="0">
                <a:latin typeface="Arial" panose="020B0604020202020204" pitchFamily="34" charset="0"/>
              </a:rPr>
              <a:t>,r</a:t>
            </a:r>
            <a:r>
              <a:rPr kumimoji="0" lang="en-US" altLang="en-US" sz="1600" b="0" i="0" u="none" strike="noStrike" cap="none" normalizeH="0" baseline="0" dirty="0">
                <a:ln>
                  <a:noFill/>
                </a:ln>
                <a:solidFill>
                  <a:schemeClr val="tx1"/>
                </a:solidFill>
                <a:effectLst/>
                <a:latin typeface="Arial" panose="020B0604020202020204" pitchFamily="34" charset="0"/>
              </a:rPr>
              <a:t>eference number ,</a:t>
            </a:r>
            <a:r>
              <a:rPr lang="en-US" altLang="en-US" sz="1600" dirty="0">
                <a:latin typeface="Arial" panose="020B0604020202020204" pitchFamily="34" charset="0"/>
              </a:rPr>
              <a:t>p</a:t>
            </a:r>
            <a:r>
              <a:rPr kumimoji="0" lang="en-US" altLang="en-US" sz="1600" b="0" i="0" u="none" strike="noStrike" cap="none" normalizeH="0" baseline="0" dirty="0">
                <a:ln>
                  <a:noFill/>
                </a:ln>
                <a:solidFill>
                  <a:schemeClr val="tx1"/>
                </a:solidFill>
                <a:effectLst/>
                <a:latin typeface="Arial" panose="020B0604020202020204" pitchFamily="34" charset="0"/>
              </a:rPr>
              <a:t>ublication </a:t>
            </a:r>
            <a:r>
              <a:rPr kumimoji="0" lang="en-US" altLang="en-US" sz="1600" b="0" i="0" u="none" strike="noStrike" cap="none" normalizeH="0" baseline="0" dirty="0" err="1">
                <a:ln>
                  <a:noFill/>
                </a:ln>
                <a:solidFill>
                  <a:schemeClr val="tx1"/>
                </a:solidFill>
                <a:effectLst/>
                <a:latin typeface="Arial" panose="020B0604020202020204" pitchFamily="34" charset="0"/>
              </a:rPr>
              <a:t>date,</a:t>
            </a:r>
            <a:r>
              <a:rPr lang="en-US" altLang="en-US" sz="1600" dirty="0" err="1">
                <a:latin typeface="Arial" panose="020B0604020202020204" pitchFamily="34" charset="0"/>
              </a:rPr>
              <a:t>s</a:t>
            </a:r>
            <a:r>
              <a:rPr kumimoji="0" lang="en-US" altLang="en-US" sz="1600" b="0" i="0" u="none" strike="noStrike" cap="none" normalizeH="0" baseline="0" dirty="0" err="1">
                <a:ln>
                  <a:noFill/>
                </a:ln>
                <a:solidFill>
                  <a:schemeClr val="tx1"/>
                </a:solidFill>
                <a:effectLst/>
                <a:latin typeface="Arial" panose="020B0604020202020204" pitchFamily="34" charset="0"/>
              </a:rPr>
              <a:t>ource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url</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For </a:t>
            </a:r>
            <a:r>
              <a:rPr kumimoji="0" lang="en-US" altLang="en-US" sz="1600" b="1" i="0" u="none" strike="noStrike" cap="none" normalizeH="0" baseline="0" dirty="0">
                <a:ln>
                  <a:noFill/>
                </a:ln>
                <a:solidFill>
                  <a:schemeClr val="tx1"/>
                </a:solidFill>
                <a:effectLst/>
                <a:latin typeface="Arial" panose="020B0604020202020204" pitchFamily="34" charset="0"/>
              </a:rPr>
              <a:t>CBB documents</a:t>
            </a:r>
            <a:r>
              <a:rPr kumimoji="0" lang="en-US" altLang="en-US" sz="1600" b="0" i="0" u="none" strike="noStrike" cap="none" normalizeH="0" baseline="0" dirty="0">
                <a:ln>
                  <a:noFill/>
                </a:ln>
                <a:solidFill>
                  <a:schemeClr val="tx1"/>
                </a:solidFill>
                <a:effectLst/>
                <a:latin typeface="Arial" panose="020B0604020202020204" pitchFamily="34" charset="0"/>
              </a:rPr>
              <a:t>, the system supports versioning because the CBB rulebook is edited instead of only being </a:t>
            </a:r>
            <a:r>
              <a:rPr kumimoji="0" lang="en-US" altLang="en-US" sz="1600" b="0" i="0" u="none" strike="noStrike" cap="none" normalizeH="0" baseline="0" dirty="0" err="1">
                <a:ln>
                  <a:noFill/>
                </a:ln>
                <a:solidFill>
                  <a:schemeClr val="tx1"/>
                </a:solidFill>
                <a:effectLst/>
                <a:latin typeface="Arial" panose="020B0604020202020204" pitchFamily="34" charset="0"/>
              </a:rPr>
              <a:t>republished</a:t>
            </a:r>
            <a:r>
              <a:rPr lang="en-US" altLang="en-US" sz="1600" dirty="0" err="1">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Any</a:t>
            </a:r>
            <a:r>
              <a:rPr kumimoji="0" lang="en-US" altLang="en-US" sz="1600" b="0" i="0" u="none" strike="noStrike" cap="none" normalizeH="0" baseline="0" dirty="0">
                <a:ln>
                  <a:noFill/>
                </a:ln>
                <a:solidFill>
                  <a:schemeClr val="tx1"/>
                </a:solidFill>
                <a:effectLst/>
                <a:latin typeface="Arial" panose="020B0604020202020204" pitchFamily="34" charset="0"/>
              </a:rPr>
              <a:t> change creates a new version. The previous content and previous analysis are archived before saving the update. This prevents older versions from being silently overwritten.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SAMA, SBP, and SECP documents</a:t>
            </a:r>
            <a:r>
              <a:rPr kumimoji="0" lang="en-US" altLang="en-US" sz="1600" b="0" i="0" u="none" strike="noStrike" cap="none" normalizeH="0" baseline="0" dirty="0">
                <a:ln>
                  <a:noFill/>
                </a:ln>
                <a:solidFill>
                  <a:schemeClr val="tx1"/>
                </a:solidFill>
                <a:effectLst/>
                <a:latin typeface="Arial" panose="020B0604020202020204" pitchFamily="34" charset="0"/>
              </a:rPr>
              <a:t> are not versioned in the same </a:t>
            </a:r>
            <a:r>
              <a:rPr kumimoji="0" lang="en-US" altLang="en-US" sz="1600" b="0" i="0" u="none" strike="noStrike" cap="none" normalizeH="0" baseline="0" dirty="0" err="1">
                <a:ln>
                  <a:noFill/>
                </a:ln>
                <a:solidFill>
                  <a:schemeClr val="tx1"/>
                </a:solidFill>
                <a:effectLst/>
                <a:latin typeface="Arial" panose="020B0604020202020204" pitchFamily="34" charset="0"/>
              </a:rPr>
              <a:t>way,They</a:t>
            </a:r>
            <a:r>
              <a:rPr kumimoji="0" lang="en-US" altLang="en-US" sz="1600" b="0" i="0" u="none" strike="noStrike" cap="none" normalizeH="0" baseline="0" dirty="0">
                <a:ln>
                  <a:noFill/>
                </a:ln>
                <a:solidFill>
                  <a:schemeClr val="tx1"/>
                </a:solidFill>
                <a:effectLst/>
                <a:latin typeface="Arial" panose="020B0604020202020204" pitchFamily="34" charset="0"/>
              </a:rPr>
              <a:t> are treated as </a:t>
            </a:r>
            <a:r>
              <a:rPr kumimoji="0" lang="en-US" altLang="en-US" sz="1600" i="0" u="none" strike="noStrike" cap="none" normalizeH="0" baseline="0" dirty="0">
                <a:ln>
                  <a:noFill/>
                </a:ln>
                <a:solidFill>
                  <a:schemeClr val="tx1"/>
                </a:solidFill>
                <a:effectLst/>
                <a:latin typeface="Arial" panose="020B0604020202020204" pitchFamily="34" charset="0"/>
              </a:rPr>
              <a:t>point-in-time snapshots</a:t>
            </a:r>
            <a:r>
              <a:rPr kumimoji="0" lang="en-US" altLang="en-US" sz="1600" b="0" i="0" u="none" strike="noStrike" cap="none" normalizeH="0" baseline="0" dirty="0">
                <a:ln>
                  <a:noFill/>
                </a:ln>
                <a:solidFill>
                  <a:schemeClr val="tx1"/>
                </a:solidFill>
                <a:effectLst/>
                <a:latin typeface="Arial" panose="020B0604020202020204" pitchFamily="34" charset="0"/>
              </a:rPr>
              <a:t>. They create new entries instead of editing existing documents.</a:t>
            </a:r>
          </a:p>
        </p:txBody>
      </p:sp>
    </p:spTree>
    <p:extLst>
      <p:ext uri="{BB962C8B-B14F-4D97-AF65-F5344CB8AC3E}">
        <p14:creationId xmlns:p14="http://schemas.microsoft.com/office/powerpoint/2010/main" val="2601219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UC-2 — API and Scheduling</a:t>
            </a:r>
          </a:p>
        </p:txBody>
      </p:sp>
      <p:sp>
        <p:nvSpPr>
          <p:cNvPr id="5" name="TextBox 4"/>
          <p:cNvSpPr txBox="1"/>
          <p:nvPr/>
        </p:nvSpPr>
        <p:spPr>
          <a:xfrm>
            <a:off x="457200" y="1280160"/>
            <a:ext cx="10706669" cy="29578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Scheduling is fully configurable per regulator through the API: a client can set a specific time of day, specific days of the week, a recurring interval such as every few hours, or multiple runs per day for any regulator, independently of the others.</a:t>
            </a:r>
          </a:p>
          <a:p>
            <a:pPr marL="285750" indent="-285750">
              <a:lnSpc>
                <a:spcPct val="150000"/>
              </a:lnSpc>
              <a:buFont typeface="Arial" panose="020B0604020202020204" pitchFamily="34" charset="0"/>
              <a:buChar char="•"/>
            </a:pPr>
            <a:r>
              <a:rPr lang="en-US" dirty="0"/>
              <a:t>On-demand trigger endpoints let a client run any regulator's pipeline, or all of them, immediately  independent of its configured schedule.</a:t>
            </a:r>
          </a:p>
          <a:p>
            <a:pPr marL="285750" indent="-285750">
              <a:lnSpc>
                <a:spcPct val="150000"/>
              </a:lnSpc>
              <a:spcAft>
                <a:spcPts val="1400"/>
              </a:spcAft>
              <a:buFont typeface="Arial" panose="020B0604020202020204" pitchFamily="34" charset="0"/>
              <a:buChar char="•"/>
            </a:pPr>
            <a:r>
              <a:rPr dirty="0">
                <a:solidFill>
                  <a:srgbClr val="2B2B2B"/>
                </a:solidFill>
                <a:latin typeface="Calibri"/>
              </a:rPr>
              <a:t>A  thread records a heartbeat every five minutes while a pipeline is running, so a stalled run becomes visible rather than failing silently.</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3246120"/>
            <a:ext cx="2011680" cy="64008"/>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377440"/>
            <a:ext cx="10360152" cy="548640"/>
          </a:xfrm>
          <a:prstGeom prst="rect">
            <a:avLst/>
          </a:prstGeom>
          <a:noFill/>
        </p:spPr>
        <p:txBody>
          <a:bodyPr wrap="square" lIns="0" tIns="0" rIns="0" bIns="0" anchor="t">
            <a:noAutofit/>
          </a:bodyPr>
          <a:lstStyle/>
          <a:p>
            <a:pPr algn="l"/>
            <a:r>
              <a:rPr sz="1800" b="1" i="0">
                <a:solidFill>
                  <a:srgbClr val="E37B1B"/>
                </a:solidFill>
                <a:latin typeface="Calibri"/>
              </a:rPr>
              <a:t>PART 2</a:t>
            </a:r>
          </a:p>
        </p:txBody>
      </p:sp>
      <p:sp>
        <p:nvSpPr>
          <p:cNvPr id="5" name="TextBox 4"/>
          <p:cNvSpPr txBox="1"/>
          <p:nvPr/>
        </p:nvSpPr>
        <p:spPr>
          <a:xfrm>
            <a:off x="914400" y="3429000"/>
            <a:ext cx="10360152" cy="1097280"/>
          </a:xfrm>
          <a:prstGeom prst="rect">
            <a:avLst/>
          </a:prstGeom>
          <a:noFill/>
        </p:spPr>
        <p:txBody>
          <a:bodyPr wrap="square" lIns="0" tIns="0" rIns="0" bIns="0" anchor="t">
            <a:noAutofit/>
          </a:bodyPr>
          <a:lstStyle/>
          <a:p>
            <a:pPr algn="l"/>
            <a:r>
              <a:rPr sz="3200" b="1" i="0">
                <a:solidFill>
                  <a:srgbClr val="FFFFFF"/>
                </a:solidFill>
                <a:latin typeface="Calibri"/>
              </a:rPr>
              <a:t>UC-15 — Requirement Extraction Engine</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Problem Statement</a:t>
            </a:r>
          </a:p>
        </p:txBody>
      </p:sp>
      <p:sp>
        <p:nvSpPr>
          <p:cNvPr id="5" name="TextBox 4"/>
          <p:cNvSpPr txBox="1"/>
          <p:nvPr/>
        </p:nvSpPr>
        <p:spPr>
          <a:xfrm>
            <a:off x="457200" y="1315729"/>
            <a:ext cx="11277295" cy="2113271"/>
          </a:xfrm>
          <a:prstGeom prst="rect">
            <a:avLst/>
          </a:prstGeom>
          <a:noFill/>
        </p:spPr>
        <p:txBody>
          <a:bodyPr wrap="square">
            <a:spAutoFit/>
          </a:bodyPr>
          <a:lstStyle/>
          <a:p>
            <a:pPr>
              <a:lnSpc>
                <a:spcPct val="110000"/>
              </a:lnSpc>
              <a:spcAft>
                <a:spcPts val="1400"/>
              </a:spcAft>
            </a:pPr>
            <a:r>
              <a:rPr sz="1650" dirty="0">
                <a:solidFill>
                  <a:srgbClr val="2B2B2B"/>
                </a:solidFill>
                <a:latin typeface="Calibri"/>
              </a:rPr>
              <a:t>•   Regulatory text is written as prose paragraphs, cross-references, and conditional clauses and is not directly usable by a compliance system.</a:t>
            </a:r>
          </a:p>
          <a:p>
            <a:pPr>
              <a:lnSpc>
                <a:spcPct val="110000"/>
              </a:lnSpc>
              <a:spcAft>
                <a:spcPts val="1400"/>
              </a:spcAft>
            </a:pPr>
            <a:r>
              <a:rPr sz="1650" dirty="0">
                <a:solidFill>
                  <a:srgbClr val="2B2B2B"/>
                </a:solidFill>
                <a:latin typeface="Calibri"/>
              </a:rPr>
              <a:t>•   UC-15's role is to convert that prose into atomic, testable obligations, classify each one, design a control for the obligations that require one, and cross-reference the result against the bank's existing requirements.</a:t>
            </a:r>
          </a:p>
          <a:p>
            <a:pPr>
              <a:lnSpc>
                <a:spcPct val="110000"/>
              </a:lnSpc>
              <a:spcAft>
                <a:spcPts val="1400"/>
              </a:spcAft>
            </a:pPr>
            <a:r>
              <a:rPr sz="1650" dirty="0">
                <a:solidFill>
                  <a:srgbClr val="2B2B2B"/>
                </a:solidFill>
                <a:latin typeface="Calibri"/>
              </a:rPr>
              <a:t>•   The same engine processes every regulator's crawled text as well as manually uploaded documents, using a single code path rather than four separate ones.</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dirty="0">
                <a:solidFill>
                  <a:srgbClr val="102A43"/>
                </a:solidFill>
                <a:latin typeface="Calibri"/>
              </a:rPr>
              <a:t>UC-15 — Model Evaluation</a:t>
            </a:r>
          </a:p>
        </p:txBody>
      </p:sp>
      <p:sp>
        <p:nvSpPr>
          <p:cNvPr id="6" name="TextBox 5"/>
          <p:cNvSpPr txBox="1"/>
          <p:nvPr/>
        </p:nvSpPr>
        <p:spPr>
          <a:xfrm>
            <a:off x="457200" y="5971032"/>
            <a:ext cx="11277295" cy="411480"/>
          </a:xfrm>
          <a:prstGeom prst="rect">
            <a:avLst/>
          </a:prstGeom>
          <a:noFill/>
        </p:spPr>
        <p:txBody>
          <a:bodyPr wrap="square" lIns="0" tIns="0" rIns="0" bIns="0" anchor="t">
            <a:noAutofit/>
          </a:bodyPr>
          <a:lstStyle/>
          <a:p>
            <a:endParaRPr lang="en-US" sz="1400" i="1" dirty="0"/>
          </a:p>
        </p:txBody>
      </p:sp>
      <p:sp>
        <p:nvSpPr>
          <p:cNvPr id="7" name="Rectangle 6"/>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9" name="TextBox 8"/>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15</a:t>
            </a:r>
          </a:p>
        </p:txBody>
      </p:sp>
      <p:graphicFrame>
        <p:nvGraphicFramePr>
          <p:cNvPr id="12" name="Table 11">
            <a:extLst>
              <a:ext uri="{FF2B5EF4-FFF2-40B4-BE49-F238E27FC236}">
                <a16:creationId xmlns:a16="http://schemas.microsoft.com/office/drawing/2014/main" id="{518872A0-F3E7-5054-CB16-3FD219D1116C}"/>
              </a:ext>
            </a:extLst>
          </p:cNvPr>
          <p:cNvGraphicFramePr>
            <a:graphicFrameLocks noGrp="1"/>
          </p:cNvGraphicFramePr>
          <p:nvPr>
            <p:extLst>
              <p:ext uri="{D42A27DB-BD31-4B8C-83A1-F6EECF244321}">
                <p14:modId xmlns:p14="http://schemas.microsoft.com/office/powerpoint/2010/main" val="2422572300"/>
              </p:ext>
            </p:extLst>
          </p:nvPr>
        </p:nvGraphicFramePr>
        <p:xfrm>
          <a:off x="471714" y="1078992"/>
          <a:ext cx="11277293" cy="4800600"/>
        </p:xfrm>
        <a:graphic>
          <a:graphicData uri="http://schemas.openxmlformats.org/drawingml/2006/table">
            <a:tbl>
              <a:tblPr firstRow="1" bandRow="1">
                <a:tableStyleId>{5C22544A-7EE6-4342-B048-85BDC9FD1C3A}</a:tableStyleId>
              </a:tblPr>
              <a:tblGrid>
                <a:gridCol w="1593530">
                  <a:extLst>
                    <a:ext uri="{9D8B030D-6E8A-4147-A177-3AD203B41FA5}">
                      <a16:colId xmlns:a16="http://schemas.microsoft.com/office/drawing/2014/main" val="3975293236"/>
                    </a:ext>
                  </a:extLst>
                </a:gridCol>
                <a:gridCol w="7599916">
                  <a:extLst>
                    <a:ext uri="{9D8B030D-6E8A-4147-A177-3AD203B41FA5}">
                      <a16:colId xmlns:a16="http://schemas.microsoft.com/office/drawing/2014/main" val="1078195993"/>
                    </a:ext>
                  </a:extLst>
                </a:gridCol>
                <a:gridCol w="2083847">
                  <a:extLst>
                    <a:ext uri="{9D8B030D-6E8A-4147-A177-3AD203B41FA5}">
                      <a16:colId xmlns:a16="http://schemas.microsoft.com/office/drawing/2014/main" val="2492252556"/>
                    </a:ext>
                  </a:extLst>
                </a:gridCol>
              </a:tblGrid>
              <a:tr h="960120">
                <a:tc>
                  <a:txBody>
                    <a:bodyPr/>
                    <a:lstStyle/>
                    <a:p>
                      <a:pPr algn="l"/>
                      <a:r>
                        <a:rPr sz="1200" b="1">
                          <a:solidFill>
                            <a:srgbClr val="FFFFFF"/>
                          </a:solidFill>
                          <a:latin typeface="Calibri"/>
                        </a:rPr>
                        <a:t>Model</a:t>
                      </a:r>
                    </a:p>
                  </a:txBody>
                  <a:tcPr marL="64008" marR="64008" marT="27432" marB="27432" anchor="ctr">
                    <a:solidFill>
                      <a:srgbClr val="E37B1B"/>
                    </a:solidFill>
                  </a:tcPr>
                </a:tc>
                <a:tc>
                  <a:txBody>
                    <a:bodyPr/>
                    <a:lstStyle/>
                    <a:p>
                      <a:pPr algn="l"/>
                      <a:r>
                        <a:rPr sz="1200" b="1">
                          <a:solidFill>
                            <a:srgbClr val="FFFFFF"/>
                          </a:solidFill>
                          <a:latin typeface="Calibri"/>
                        </a:rPr>
                        <a:t>Why It Wasn't Chosen</a:t>
                      </a:r>
                    </a:p>
                  </a:txBody>
                  <a:tcPr marL="64008" marR="64008" marT="27432" marB="27432" anchor="ctr">
                    <a:solidFill>
                      <a:srgbClr val="E37B1B"/>
                    </a:solidFill>
                  </a:tcPr>
                </a:tc>
                <a:tc>
                  <a:txBody>
                    <a:bodyPr/>
                    <a:lstStyle/>
                    <a:p>
                      <a:pPr algn="l"/>
                      <a:r>
                        <a:rPr sz="1200" b="1">
                          <a:solidFill>
                            <a:srgbClr val="FFFFFF"/>
                          </a:solidFill>
                          <a:latin typeface="Calibri"/>
                        </a:rPr>
                        <a:t>Token Price</a:t>
                      </a:r>
                    </a:p>
                    <a:p>
                      <a:pPr algn="l"/>
                      <a:r>
                        <a:rPr sz="1200" b="1">
                          <a:solidFill>
                            <a:srgbClr val="FFFFFF"/>
                          </a:solidFill>
                          <a:latin typeface="Calibri"/>
                        </a:rPr>
                        <a:t>(Input / Output per 1M)</a:t>
                      </a:r>
                    </a:p>
                  </a:txBody>
                  <a:tcPr marL="64008" marR="64008" marT="27432" marB="27432" anchor="ctr">
                    <a:solidFill>
                      <a:srgbClr val="E37B1B"/>
                    </a:solidFill>
                  </a:tcPr>
                </a:tc>
                <a:extLst>
                  <a:ext uri="{0D108BD9-81ED-4DB2-BD59-A6C34878D82A}">
                    <a16:rowId xmlns:a16="http://schemas.microsoft.com/office/drawing/2014/main" val="1634944501"/>
                  </a:ext>
                </a:extLst>
              </a:tr>
              <a:tr h="960120">
                <a:tc>
                  <a:txBody>
                    <a:bodyPr/>
                    <a:lstStyle/>
                    <a:p>
                      <a:r>
                        <a:rPr sz="1100" b="1">
                          <a:solidFill>
                            <a:srgbClr val="2B2B2B"/>
                          </a:solidFill>
                          <a:latin typeface="Calibri"/>
                        </a:rPr>
                        <a:t>Claude 3.5</a:t>
                      </a:r>
                    </a:p>
                    <a:p>
                      <a:r>
                        <a:rPr sz="1100" b="1">
                          <a:solidFill>
                            <a:srgbClr val="2B2B2B"/>
                          </a:solidFill>
                          <a:latin typeface="Calibri"/>
                        </a:rPr>
                        <a:t>Sonnet</a:t>
                      </a:r>
                    </a:p>
                  </a:txBody>
                  <a:tcPr marL="64008" marR="64008" marT="27432" marB="27432" anchor="ctr">
                    <a:solidFill>
                      <a:srgbClr val="FFFFFF"/>
                    </a:solidFill>
                  </a:tcPr>
                </a:tc>
                <a:tc>
                  <a:txBody>
                    <a:bodyPr/>
                    <a:lstStyle/>
                    <a:p>
                      <a:r>
                        <a:rPr sz="1100" b="0" dirty="0">
                          <a:solidFill>
                            <a:srgbClr val="2B2B2B"/>
                          </a:solidFill>
                          <a:latin typeface="Calibri"/>
                        </a:rPr>
                        <a:t>Strongest analytical depth of the five — the only model that extracted technical assessments as actionable requirements. Rejected on cost: at this price, running it several times per document across thousands of documents would cost roughly 10–37x more than the chosen model, for a quality gain this workload doesn't need.</a:t>
                      </a:r>
                    </a:p>
                  </a:txBody>
                  <a:tcPr marL="64008" marR="64008" marT="27432" marB="27432" anchor="ctr">
                    <a:solidFill>
                      <a:srgbClr val="FFFFFF"/>
                    </a:solidFill>
                  </a:tcPr>
                </a:tc>
                <a:tc>
                  <a:txBody>
                    <a:bodyPr/>
                    <a:lstStyle/>
                    <a:p>
                      <a:r>
                        <a:rPr sz="1100" b="0">
                          <a:solidFill>
                            <a:srgbClr val="2B2B2B"/>
                          </a:solidFill>
                          <a:latin typeface="Calibri"/>
                        </a:rPr>
                        <a:t>$3.00 / $15.00</a:t>
                      </a:r>
                    </a:p>
                  </a:txBody>
                  <a:tcPr marL="64008" marR="64008" marT="27432" marB="27432" anchor="ctr">
                    <a:solidFill>
                      <a:srgbClr val="FFFFFF"/>
                    </a:solidFill>
                  </a:tcPr>
                </a:tc>
                <a:extLst>
                  <a:ext uri="{0D108BD9-81ED-4DB2-BD59-A6C34878D82A}">
                    <a16:rowId xmlns:a16="http://schemas.microsoft.com/office/drawing/2014/main" val="2082826424"/>
                  </a:ext>
                </a:extLst>
              </a:tr>
              <a:tr h="960120">
                <a:tc>
                  <a:txBody>
                    <a:bodyPr/>
                    <a:lstStyle/>
                    <a:p>
                      <a:r>
                        <a:rPr sz="1100" b="1">
                          <a:solidFill>
                            <a:srgbClr val="2B2B2B"/>
                          </a:solidFill>
                          <a:latin typeface="Calibri"/>
                        </a:rPr>
                        <a:t>GPT-4.1</a:t>
                      </a:r>
                    </a:p>
                  </a:txBody>
                  <a:tcPr marL="64008" marR="64008" marT="27432" marB="27432" anchor="ctr">
                    <a:solidFill>
                      <a:srgbClr val="E9EDF0"/>
                    </a:solidFill>
                  </a:tcPr>
                </a:tc>
                <a:tc>
                  <a:txBody>
                    <a:bodyPr/>
                    <a:lstStyle/>
                    <a:p>
                      <a:r>
                        <a:rPr sz="1100" b="0">
                          <a:solidFill>
                            <a:srgbClr val="2B2B2B"/>
                          </a:solidFill>
                          <a:latin typeface="Calibri"/>
                        </a:rPr>
                        <a:t>Strong KPI and audit-trail output, but assigned departments too narrowly and missed technical depth. Still priced 7–20x higher than the chosen model.</a:t>
                      </a:r>
                    </a:p>
                  </a:txBody>
                  <a:tcPr marL="64008" marR="64008" marT="27432" marB="27432" anchor="ctr">
                    <a:solidFill>
                      <a:srgbClr val="E9EDF0"/>
                    </a:solidFill>
                  </a:tcPr>
                </a:tc>
                <a:tc>
                  <a:txBody>
                    <a:bodyPr/>
                    <a:lstStyle/>
                    <a:p>
                      <a:r>
                        <a:rPr sz="1100" b="0">
                          <a:solidFill>
                            <a:srgbClr val="2B2B2B"/>
                          </a:solidFill>
                          <a:latin typeface="Calibri"/>
                        </a:rPr>
                        <a:t>$2.00 / $8.00</a:t>
                      </a:r>
                    </a:p>
                  </a:txBody>
                  <a:tcPr marL="64008" marR="64008" marT="27432" marB="27432" anchor="ctr">
                    <a:solidFill>
                      <a:srgbClr val="E9EDF0"/>
                    </a:solidFill>
                  </a:tcPr>
                </a:tc>
                <a:extLst>
                  <a:ext uri="{0D108BD9-81ED-4DB2-BD59-A6C34878D82A}">
                    <a16:rowId xmlns:a16="http://schemas.microsoft.com/office/drawing/2014/main" val="850625599"/>
                  </a:ext>
                </a:extLst>
              </a:tr>
              <a:tr h="960120">
                <a:tc>
                  <a:txBody>
                    <a:bodyPr/>
                    <a:lstStyle/>
                    <a:p>
                      <a:r>
                        <a:rPr sz="1100" b="1">
                          <a:solidFill>
                            <a:srgbClr val="2B2B2B"/>
                          </a:solidFill>
                          <a:latin typeface="Calibri"/>
                        </a:rPr>
                        <a:t>Gemini 2.5</a:t>
                      </a:r>
                    </a:p>
                    <a:p>
                      <a:r>
                        <a:rPr sz="1100" b="1">
                          <a:solidFill>
                            <a:srgbClr val="2B2B2B"/>
                          </a:solidFill>
                          <a:latin typeface="Calibri"/>
                        </a:rPr>
                        <a:t>Flash</a:t>
                      </a:r>
                    </a:p>
                  </a:txBody>
                  <a:tcPr marL="64008" marR="64008" marT="27432" marB="27432" anchor="ctr">
                    <a:solidFill>
                      <a:srgbClr val="FFFFFF"/>
                    </a:solidFill>
                  </a:tcPr>
                </a:tc>
                <a:tc>
                  <a:txBody>
                    <a:bodyPr/>
                    <a:lstStyle/>
                    <a:p>
                      <a:r>
                        <a:rPr sz="1100" b="0">
                          <a:solidFill>
                            <a:srgbClr val="2B2B2B"/>
                          </a:solidFill>
                          <a:latin typeface="Calibri"/>
                        </a:rPr>
                        <a:t>Input pricing close to the chosen model, but output pricing is roughly 6x higher — and it missed technical assessments and specific regulatory consequences. The quality gap wasn't offset by a real cost advantage.</a:t>
                      </a:r>
                    </a:p>
                  </a:txBody>
                  <a:tcPr marL="64008" marR="64008" marT="27432" marB="27432" anchor="ctr">
                    <a:solidFill>
                      <a:srgbClr val="FFFFFF"/>
                    </a:solidFill>
                  </a:tcPr>
                </a:tc>
                <a:tc>
                  <a:txBody>
                    <a:bodyPr/>
                    <a:lstStyle/>
                    <a:p>
                      <a:r>
                        <a:rPr sz="1100" b="0" dirty="0">
                          <a:solidFill>
                            <a:srgbClr val="2B2B2B"/>
                          </a:solidFill>
                          <a:latin typeface="Calibri"/>
                        </a:rPr>
                        <a:t>$0.30 / $2.50</a:t>
                      </a:r>
                    </a:p>
                  </a:txBody>
                  <a:tcPr marL="64008" marR="64008" marT="27432" marB="27432" anchor="ctr">
                    <a:solidFill>
                      <a:srgbClr val="FFFFFF"/>
                    </a:solidFill>
                  </a:tcPr>
                </a:tc>
                <a:extLst>
                  <a:ext uri="{0D108BD9-81ED-4DB2-BD59-A6C34878D82A}">
                    <a16:rowId xmlns:a16="http://schemas.microsoft.com/office/drawing/2014/main" val="2066218185"/>
                  </a:ext>
                </a:extLst>
              </a:tr>
              <a:tr h="960120">
                <a:tc>
                  <a:txBody>
                    <a:bodyPr/>
                    <a:lstStyle/>
                    <a:p>
                      <a:r>
                        <a:rPr sz="1100" b="1">
                          <a:solidFill>
                            <a:srgbClr val="2B2B2B"/>
                          </a:solidFill>
                          <a:latin typeface="Calibri"/>
                        </a:rPr>
                        <a:t>Qwen 2.5</a:t>
                      </a:r>
                    </a:p>
                    <a:p>
                      <a:r>
                        <a:rPr sz="1100" b="1">
                          <a:solidFill>
                            <a:srgbClr val="2B2B2B"/>
                          </a:solidFill>
                          <a:latin typeface="Calibri"/>
                        </a:rPr>
                        <a:t>72B</a:t>
                      </a:r>
                    </a:p>
                  </a:txBody>
                  <a:tcPr marL="64008" marR="64008" marT="27432" marB="27432" anchor="ctr">
                    <a:solidFill>
                      <a:srgbClr val="E9EDF0"/>
                    </a:solidFill>
                  </a:tcPr>
                </a:tc>
                <a:tc>
                  <a:txBody>
                    <a:bodyPr/>
                    <a:lstStyle/>
                    <a:p>
                      <a:r>
                        <a:rPr sz="1100" b="0">
                          <a:solidFill>
                            <a:srgbClr val="2B2B2B"/>
                          </a:solidFill>
                          <a:latin typeface="Calibri"/>
                        </a:rPr>
                        <a:t>Pricing is comparable to the chosen model, but it produced the weakest output of the five — the most generic controls, the weakest KPIs, the least specificity. Rejected on quality, not cost.</a:t>
                      </a:r>
                    </a:p>
                  </a:txBody>
                  <a:tcPr marL="64008" marR="64008" marT="27432" marB="27432" anchor="ctr">
                    <a:solidFill>
                      <a:srgbClr val="E9EDF0"/>
                    </a:solidFill>
                  </a:tcPr>
                </a:tc>
                <a:tc>
                  <a:txBody>
                    <a:bodyPr/>
                    <a:lstStyle/>
                    <a:p>
                      <a:r>
                        <a:rPr sz="1100" b="0" dirty="0">
                          <a:solidFill>
                            <a:srgbClr val="2B2B2B"/>
                          </a:solidFill>
                          <a:latin typeface="Calibri"/>
                        </a:rPr>
                        <a:t>$0.36 / $0.40</a:t>
                      </a:r>
                    </a:p>
                  </a:txBody>
                  <a:tcPr marL="64008" marR="64008" marT="27432" marB="27432" anchor="ctr">
                    <a:solidFill>
                      <a:srgbClr val="E9EDF0"/>
                    </a:solidFill>
                  </a:tcPr>
                </a:tc>
                <a:extLst>
                  <a:ext uri="{0D108BD9-81ED-4DB2-BD59-A6C34878D82A}">
                    <a16:rowId xmlns:a16="http://schemas.microsoft.com/office/drawing/2014/main" val="57784661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F21DB-BFAD-4A55-4803-CAA4C91917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0412FF-11C8-831B-AAFB-915E88349A2B}"/>
              </a:ext>
            </a:extLst>
          </p:cNvPr>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7E1CDA3-1D4F-CFC7-DA17-F0F8F55A5ABB}"/>
              </a:ext>
            </a:extLst>
          </p:cNvPr>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EB9273C-0D23-752A-FBF4-AD789AD4D266}"/>
              </a:ext>
            </a:extLst>
          </p:cNvPr>
          <p:cNvSpPr txBox="1"/>
          <p:nvPr/>
        </p:nvSpPr>
        <p:spPr>
          <a:xfrm>
            <a:off x="457200" y="0"/>
            <a:ext cx="11277295" cy="914400"/>
          </a:xfrm>
          <a:prstGeom prst="rect">
            <a:avLst/>
          </a:prstGeom>
          <a:noFill/>
        </p:spPr>
        <p:txBody>
          <a:bodyPr wrap="square" lIns="0" tIns="0" rIns="0" bIns="0" anchor="ctr">
            <a:noAutofit/>
          </a:bodyPr>
          <a:lstStyle/>
          <a:p>
            <a:pPr algn="l"/>
            <a:r>
              <a:rPr lang="en-US" sz="2600" b="1" i="0" dirty="0">
                <a:solidFill>
                  <a:srgbClr val="102A43"/>
                </a:solidFill>
                <a:latin typeface="Calibri"/>
              </a:rPr>
              <a:t>UC-15 — Why DEEPSEEK</a:t>
            </a:r>
            <a:endParaRPr sz="2600" b="1" i="0" dirty="0">
              <a:solidFill>
                <a:srgbClr val="102A43"/>
              </a:solidFill>
              <a:latin typeface="Calibri"/>
            </a:endParaRPr>
          </a:p>
        </p:txBody>
      </p:sp>
      <p:sp>
        <p:nvSpPr>
          <p:cNvPr id="5" name="TextBox 4">
            <a:extLst>
              <a:ext uri="{FF2B5EF4-FFF2-40B4-BE49-F238E27FC236}">
                <a16:creationId xmlns:a16="http://schemas.microsoft.com/office/drawing/2014/main" id="{2E25FE12-16AC-8D2D-F449-3649709BB859}"/>
              </a:ext>
            </a:extLst>
          </p:cNvPr>
          <p:cNvSpPr txBox="1"/>
          <p:nvPr/>
        </p:nvSpPr>
        <p:spPr>
          <a:xfrm>
            <a:off x="457200" y="1315729"/>
            <a:ext cx="11277295" cy="2929007"/>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US" dirty="0"/>
              <a:t>DeepSeek v3.2 ($0.27 / $0.40 per million tokens)  was the model that didn't force a trade-off between quality and cost at this volume.</a:t>
            </a:r>
          </a:p>
          <a:p>
            <a:pPr marL="285750" indent="-285750">
              <a:lnSpc>
                <a:spcPct val="105000"/>
              </a:lnSpc>
              <a:spcAft>
                <a:spcPts val="600"/>
              </a:spcAft>
              <a:buFont typeface="Arial" panose="020B0604020202020204" pitchFamily="34" charset="0"/>
              <a:buChar char="•"/>
            </a:pPr>
            <a:r>
              <a:rPr lang="en-US" dirty="0">
                <a:solidFill>
                  <a:srgbClr val="2B2B2B"/>
                </a:solidFill>
              </a:rPr>
              <a:t>Against the models near its price point (Gemini 2.5 Flash, Qwen 2.5 72B), DeepSeek produced the most accurate department and risk classification — the dimension that matters most for routing obligations to the right owner.</a:t>
            </a:r>
          </a:p>
          <a:p>
            <a:pPr marL="285750" indent="-285750">
              <a:lnSpc>
                <a:spcPct val="105000"/>
              </a:lnSpc>
              <a:spcAft>
                <a:spcPts val="600"/>
              </a:spcAft>
              <a:buFont typeface="Arial" panose="020B0604020202020204" pitchFamily="34" charset="0"/>
              <a:buChar char="•"/>
            </a:pPr>
            <a:r>
              <a:rPr lang="en-US" dirty="0">
                <a:solidFill>
                  <a:srgbClr val="2B2B2B"/>
                </a:solidFill>
              </a:rPr>
              <a:t>Against the models with stronger qualitative depth (Claude 3.5 Sonnet, GPT-4.1), DeepSeek avoided a 7x to 37x cost premium that this workload , multiple calls per document, across thousands of documents  would make very expensive, very quickly.</a:t>
            </a:r>
          </a:p>
          <a:p>
            <a:pPr marL="285750" indent="-285750">
              <a:lnSpc>
                <a:spcPct val="105000"/>
              </a:lnSpc>
              <a:spcAft>
                <a:spcPts val="600"/>
              </a:spcAft>
              <a:buFont typeface="Arial" panose="020B0604020202020204" pitchFamily="34" charset="0"/>
              <a:buChar char="•"/>
            </a:pPr>
            <a:r>
              <a:rPr lang="en-US" dirty="0">
                <a:solidFill>
                  <a:srgbClr val="2B2B2B"/>
                </a:solidFill>
              </a:rPr>
              <a:t>Net result: a model accurate enough for structured classification and control design, at a cost that scales comfortably with regulatory volume instead of against it.</a:t>
            </a:r>
          </a:p>
        </p:txBody>
      </p:sp>
      <p:sp>
        <p:nvSpPr>
          <p:cNvPr id="6" name="Rectangle 5">
            <a:extLst>
              <a:ext uri="{FF2B5EF4-FFF2-40B4-BE49-F238E27FC236}">
                <a16:creationId xmlns:a16="http://schemas.microsoft.com/office/drawing/2014/main" id="{CEF574E8-5532-8165-FDB9-9115627D6D03}"/>
              </a:ext>
            </a:extLst>
          </p:cNvPr>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3603E9C-FBC5-7530-F7B5-11D84AB88216}"/>
              </a:ext>
            </a:extLst>
          </p:cNvPr>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a:extLst>
              <a:ext uri="{FF2B5EF4-FFF2-40B4-BE49-F238E27FC236}">
                <a16:creationId xmlns:a16="http://schemas.microsoft.com/office/drawing/2014/main" id="{8A6400FF-44EB-13CE-E596-11435522284D}"/>
              </a:ext>
            </a:extLst>
          </p:cNvPr>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14</a:t>
            </a:r>
          </a:p>
        </p:txBody>
      </p:sp>
    </p:spTree>
    <p:extLst>
      <p:ext uri="{BB962C8B-B14F-4D97-AF65-F5344CB8AC3E}">
        <p14:creationId xmlns:p14="http://schemas.microsoft.com/office/powerpoint/2010/main" val="494642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The Three-Stage Pipeline</a:t>
            </a:r>
          </a:p>
        </p:txBody>
      </p:sp>
      <p:sp>
        <p:nvSpPr>
          <p:cNvPr id="5" name="Rounded Rectangle 4"/>
          <p:cNvSpPr/>
          <p:nvPr/>
        </p:nvSpPr>
        <p:spPr>
          <a:xfrm>
            <a:off x="457200" y="2606040"/>
            <a:ext cx="3576218" cy="1691640"/>
          </a:xfrm>
          <a:prstGeom prst="round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dirty="0">
                <a:solidFill>
                  <a:srgbClr val="FFFFFF"/>
                </a:solidFill>
                <a:latin typeface="Calibri"/>
              </a:rPr>
              <a:t>1. Extract</a:t>
            </a:r>
          </a:p>
          <a:p>
            <a:pPr algn="ctr">
              <a:spcBef>
                <a:spcPts val="600"/>
              </a:spcBef>
            </a:pPr>
            <a:r>
              <a:rPr sz="1000" dirty="0">
                <a:solidFill>
                  <a:srgbClr val="FFFFFF"/>
                </a:solidFill>
                <a:latin typeface="Calibri"/>
              </a:rPr>
              <a:t>Pull binding obligations such as must/shall/required; group into four to eight requirement clusters</a:t>
            </a:r>
          </a:p>
        </p:txBody>
      </p:sp>
      <p:sp>
        <p:nvSpPr>
          <p:cNvPr id="6" name="Right Arrow 5"/>
          <p:cNvSpPr/>
          <p:nvPr/>
        </p:nvSpPr>
        <p:spPr>
          <a:xfrm>
            <a:off x="4033418"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07738" y="2606040"/>
            <a:ext cx="3576218" cy="1691640"/>
          </a:xfrm>
          <a:prstGeom prst="round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a:solidFill>
                  <a:srgbClr val="FFFFFF"/>
                </a:solidFill>
                <a:latin typeface="Calibri"/>
              </a:rPr>
              <a:t>2. Normalize &amp;
Classify</a:t>
            </a:r>
          </a:p>
          <a:p>
            <a:pPr algn="ctr">
              <a:spcBef>
                <a:spcPts val="600"/>
              </a:spcBef>
            </a:pPr>
            <a:r>
              <a:rPr sz="1000">
                <a:solidFill>
                  <a:srgbClr val="FFFFFF"/>
                </a:solidFill>
                <a:latin typeface="Calibri"/>
              </a:rPr>
              <a:t>Dedupe; tag type, criticality, evidence, and execution category</a:t>
            </a:r>
          </a:p>
        </p:txBody>
      </p:sp>
      <p:sp>
        <p:nvSpPr>
          <p:cNvPr id="8" name="Right Arrow 7"/>
          <p:cNvSpPr/>
          <p:nvPr/>
        </p:nvSpPr>
        <p:spPr>
          <a:xfrm>
            <a:off x="7883956" y="3296412"/>
            <a:ext cx="274320" cy="310896"/>
          </a:xfrm>
          <a:prstGeom prst="rightArrow">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58276" y="2606040"/>
            <a:ext cx="3576218" cy="1691640"/>
          </a:xfrm>
          <a:prstGeom prst="round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r>
              <a:rPr sz="1350" b="1" dirty="0">
                <a:solidFill>
                  <a:srgbClr val="FFFFFF"/>
                </a:solidFill>
                <a:latin typeface="Calibri"/>
              </a:rPr>
              <a:t>3. Control
Design</a:t>
            </a:r>
          </a:p>
          <a:p>
            <a:pPr algn="ctr">
              <a:spcBef>
                <a:spcPts val="600"/>
              </a:spcBef>
            </a:pPr>
            <a:r>
              <a:rPr sz="1000" dirty="0">
                <a:solidFill>
                  <a:srgbClr val="FFFFFF"/>
                </a:solidFill>
                <a:latin typeface="Calibri"/>
              </a:rPr>
              <a:t>Conditional — runs only for Ongoing Control obligations</a:t>
            </a:r>
          </a:p>
        </p:txBody>
      </p:sp>
      <p:sp>
        <p:nvSpPr>
          <p:cNvPr id="10" name="TextBox 9"/>
          <p:cNvSpPr txBox="1"/>
          <p:nvPr/>
        </p:nvSpPr>
        <p:spPr>
          <a:xfrm>
            <a:off x="457200" y="4572000"/>
            <a:ext cx="11277295" cy="1280160"/>
          </a:xfrm>
          <a:prstGeom prst="rect">
            <a:avLst/>
          </a:prstGeom>
          <a:noFill/>
        </p:spPr>
        <p:txBody>
          <a:bodyPr wrap="square" lIns="0" tIns="0" rIns="0" bIns="0" anchor="t">
            <a:noAutofit/>
          </a:bodyPr>
          <a:lstStyle/>
          <a:p>
            <a:pPr algn="l"/>
            <a:r>
              <a:rPr sz="1250" b="0" i="0" dirty="0">
                <a:solidFill>
                  <a:srgbClr val="2B2B2B"/>
                </a:solidFill>
                <a:latin typeface="Calibri"/>
              </a:rPr>
              <a:t>The model used throughout is DeepSeek v3.2 via </a:t>
            </a:r>
            <a:r>
              <a:rPr sz="1250" b="0" i="0" dirty="0" err="1">
                <a:solidFill>
                  <a:srgbClr val="2B2B2B"/>
                </a:solidFill>
                <a:latin typeface="Calibri"/>
              </a:rPr>
              <a:t>OpenRouter</a:t>
            </a:r>
            <a:r>
              <a:rPr sz="1250" b="0" i="0" dirty="0">
                <a:solidFill>
                  <a:srgbClr val="2B2B2B"/>
                </a:solidFill>
                <a:latin typeface="Calibri"/>
              </a:rPr>
              <a:t>, chosen for balanced classification performance at a meaningfully lower cost than Claude or GPT-4-class models. Stage 3 only runs when Stage 2 finds at least one Ongoing Control obligation, so not every document triggers a third call.</a:t>
            </a:r>
          </a:p>
        </p:txBody>
      </p:sp>
      <p:sp>
        <p:nvSpPr>
          <p:cNvPr id="11" name="Rectangle 10"/>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13" name="TextBox 12"/>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Stage 1: Extraction Rules</a:t>
            </a:r>
          </a:p>
        </p:txBody>
      </p:sp>
      <p:sp>
        <p:nvSpPr>
          <p:cNvPr id="5" name="TextBox 4"/>
          <p:cNvSpPr txBox="1"/>
          <p:nvPr/>
        </p:nvSpPr>
        <p:spPr>
          <a:xfrm>
            <a:off x="457200" y="1280160"/>
            <a:ext cx="11277295" cy="3769109"/>
          </a:xfrm>
          <a:prstGeom prst="rect">
            <a:avLst/>
          </a:prstGeom>
          <a:noFill/>
        </p:spPr>
        <p:txBody>
          <a:bodyPr wrap="square">
            <a:spAutoFit/>
          </a:bodyPr>
          <a:lstStyle/>
          <a:p>
            <a:pPr>
              <a:lnSpc>
                <a:spcPct val="110000"/>
              </a:lnSpc>
              <a:spcAft>
                <a:spcPts val="1400"/>
              </a:spcAft>
            </a:pPr>
            <a:r>
              <a:rPr sz="1650" dirty="0">
                <a:solidFill>
                  <a:srgbClr val="2B2B2B"/>
                </a:solidFill>
                <a:latin typeface="Calibri"/>
              </a:rPr>
              <a:t>•   Stage 1 extracts only binding obligations  language using must, shall, required to, or obligated to and explicitly excludes explanatory text, preambles, and definitions.</a:t>
            </a:r>
          </a:p>
          <a:p>
            <a:pPr>
              <a:lnSpc>
                <a:spcPct val="110000"/>
              </a:lnSpc>
              <a:spcAft>
                <a:spcPts val="1400"/>
              </a:spcAft>
            </a:pPr>
            <a:r>
              <a:rPr sz="1650" dirty="0">
                <a:solidFill>
                  <a:srgbClr val="2B2B2B"/>
                </a:solidFill>
                <a:latin typeface="Calibri"/>
              </a:rPr>
              <a:t>•   Sentences containing more than one distinct action are split into separate atomic obligations, while obligations that are logically inseparable are kept together.</a:t>
            </a:r>
          </a:p>
          <a:p>
            <a:pPr>
              <a:lnSpc>
                <a:spcPct val="110000"/>
              </a:lnSpc>
              <a:spcAft>
                <a:spcPts val="1400"/>
              </a:spcAft>
            </a:pPr>
            <a:r>
              <a:rPr sz="1650" dirty="0">
                <a:solidFill>
                  <a:srgbClr val="2B2B2B"/>
                </a:solidFill>
                <a:latin typeface="Calibri"/>
              </a:rPr>
              <a:t>•   Obligations are grouped into between four and eight requirement clusters by topic, with two to six obligations per cluster, rather than grouped by paragraph order.</a:t>
            </a:r>
          </a:p>
          <a:p>
            <a:pPr>
              <a:lnSpc>
                <a:spcPct val="110000"/>
              </a:lnSpc>
              <a:spcAft>
                <a:spcPts val="1400"/>
              </a:spcAft>
            </a:pPr>
            <a:r>
              <a:rPr sz="1650" dirty="0">
                <a:solidFill>
                  <a:srgbClr val="2B2B2B"/>
                </a:solidFill>
                <a:latin typeface="Calibri"/>
              </a:rPr>
              <a:t>•   An explicit deduplication pass removes obligations that share the same core action and subject within a group, keeping only one.</a:t>
            </a:r>
          </a:p>
          <a:p>
            <a:pPr>
              <a:lnSpc>
                <a:spcPct val="110000"/>
              </a:lnSpc>
              <a:spcAft>
                <a:spcPts val="1400"/>
              </a:spcAft>
            </a:pPr>
            <a:r>
              <a:rPr sz="1650" dirty="0">
                <a:solidFill>
                  <a:srgbClr val="2B2B2B"/>
                </a:solidFill>
                <a:latin typeface="Calibri"/>
              </a:rPr>
              <a:t>•   Output remains in the document's detected source language, English or Arabic, with no translation applied.</a:t>
            </a:r>
          </a:p>
          <a:p>
            <a:pPr>
              <a:lnSpc>
                <a:spcPct val="110000"/>
              </a:lnSpc>
              <a:spcAft>
                <a:spcPts val="1400"/>
              </a:spcAft>
            </a:pPr>
            <a:r>
              <a:rPr sz="1650" dirty="0">
                <a:solidFill>
                  <a:srgbClr val="2B2B2B"/>
                </a:solidFill>
                <a:latin typeface="Calibri"/>
              </a:rPr>
              <a:t>•   This stage runs at a temperature of 0.1, with a budget of up to 16,000 tokens.</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Stage 2: Normalization and Classification</a:t>
            </a:r>
          </a:p>
        </p:txBody>
      </p:sp>
      <p:sp>
        <p:nvSpPr>
          <p:cNvPr id="5" name="TextBox 4"/>
          <p:cNvSpPr txBox="1"/>
          <p:nvPr/>
        </p:nvSpPr>
        <p:spPr>
          <a:xfrm>
            <a:off x="457200" y="1280160"/>
            <a:ext cx="11277295" cy="3489801"/>
          </a:xfrm>
          <a:prstGeom prst="rect">
            <a:avLst/>
          </a:prstGeom>
          <a:noFill/>
        </p:spPr>
        <p:txBody>
          <a:bodyPr wrap="square">
            <a:spAutoFit/>
          </a:bodyPr>
          <a:lstStyle/>
          <a:p>
            <a:pPr>
              <a:lnSpc>
                <a:spcPct val="110000"/>
              </a:lnSpc>
              <a:spcAft>
                <a:spcPts val="1400"/>
              </a:spcAft>
            </a:pPr>
            <a:r>
              <a:rPr sz="1650" dirty="0">
                <a:solidFill>
                  <a:srgbClr val="2B2B2B"/>
                </a:solidFill>
                <a:latin typeface="Calibri"/>
              </a:rPr>
              <a:t>•   Stage 2 removes any exact duplicates that Stage 1 missed and splits any obligation that still contains more than one action.</a:t>
            </a:r>
          </a:p>
          <a:p>
            <a:pPr>
              <a:lnSpc>
                <a:spcPct val="110000"/>
              </a:lnSpc>
              <a:spcAft>
                <a:spcPts val="1400"/>
              </a:spcAft>
            </a:pPr>
            <a:r>
              <a:rPr sz="1650" dirty="0">
                <a:solidFill>
                  <a:srgbClr val="2B2B2B"/>
                </a:solidFill>
                <a:latin typeface="Calibri"/>
              </a:rPr>
              <a:t>•   Each obligation is classified by type — Preventive, Detective, Governance, Reporting, or Documentation.</a:t>
            </a:r>
          </a:p>
          <a:p>
            <a:pPr>
              <a:lnSpc>
                <a:spcPct val="110000"/>
              </a:lnSpc>
              <a:spcAft>
                <a:spcPts val="1400"/>
              </a:spcAft>
            </a:pPr>
            <a:r>
              <a:rPr sz="1650" dirty="0">
                <a:solidFill>
                  <a:srgbClr val="2B2B2B"/>
                </a:solidFill>
                <a:latin typeface="Calibri"/>
              </a:rPr>
              <a:t>•   Each obligation also receives a criticality of High, Medium, or Low, and an expected evidence type drawn from a fixed list: policy, procedure, system configuration, log, approval, report, contract, record, or other.</a:t>
            </a:r>
          </a:p>
          <a:p>
            <a:pPr>
              <a:lnSpc>
                <a:spcPct val="110000"/>
              </a:lnSpc>
              <a:spcAft>
                <a:spcPts val="1400"/>
              </a:spcAft>
            </a:pPr>
            <a:r>
              <a:rPr sz="1650" dirty="0">
                <a:solidFill>
                  <a:srgbClr val="2B2B2B"/>
                </a:solidFill>
                <a:latin typeface="Calibri"/>
              </a:rPr>
              <a:t>•   An execution category is assigned to each obligation — Ongoing Control, One-Time Implementation, One-Off Reporting, Governance Approval, or Informational with No Action — and this single field determines whether Stage 3 runs at all.</a:t>
            </a:r>
          </a:p>
          <a:p>
            <a:pPr>
              <a:lnSpc>
                <a:spcPct val="110000"/>
              </a:lnSpc>
              <a:spcAft>
                <a:spcPts val="1400"/>
              </a:spcAft>
            </a:pPr>
            <a:r>
              <a:rPr sz="1650" dirty="0">
                <a:solidFill>
                  <a:srgbClr val="2B2B2B"/>
                </a:solidFill>
                <a:latin typeface="Calibri"/>
              </a:rPr>
              <a:t>•   Each obligation receives a clarity score from one to five and a flag indicating whether it needs manual review because it cannot be made atomic.</a:t>
            </a:r>
          </a:p>
          <a:p>
            <a:pPr>
              <a:lnSpc>
                <a:spcPct val="110000"/>
              </a:lnSpc>
              <a:spcAft>
                <a:spcPts val="1400"/>
              </a:spcAft>
            </a:pPr>
            <a:r>
              <a:rPr sz="1650" dirty="0">
                <a:solidFill>
                  <a:srgbClr val="2B2B2B"/>
                </a:solidFill>
                <a:latin typeface="Calibri"/>
              </a:rPr>
              <a:t>•   This stage runs at a temperature of 0.1</a:t>
            </a:r>
            <a:r>
              <a:rPr lang="en-US" sz="1650" dirty="0">
                <a:solidFill>
                  <a:srgbClr val="2B2B2B"/>
                </a:solidFill>
                <a:latin typeface="Calibri"/>
              </a:rPr>
              <a:t> to prevent hallucination</a:t>
            </a:r>
            <a:r>
              <a:rPr sz="1650" dirty="0">
                <a:solidFill>
                  <a:srgbClr val="2B2B2B"/>
                </a:solidFill>
                <a:latin typeface="Calibri"/>
              </a:rPr>
              <a:t>, with a budget of up to 16,000 tokens.</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Stage 3: Control Design</a:t>
            </a:r>
          </a:p>
        </p:txBody>
      </p:sp>
      <p:sp>
        <p:nvSpPr>
          <p:cNvPr id="5" name="TextBox 4"/>
          <p:cNvSpPr txBox="1"/>
          <p:nvPr/>
        </p:nvSpPr>
        <p:spPr>
          <a:xfrm>
            <a:off x="457200" y="1280160"/>
            <a:ext cx="11277295" cy="5029200"/>
          </a:xfrm>
          <a:prstGeom prst="rect">
            <a:avLst/>
          </a:prstGeom>
          <a:noFill/>
        </p:spPr>
        <p:txBody>
          <a:bodyPr wrap="square">
            <a:spAutoFit/>
          </a:bodyPr>
          <a:lstStyle/>
          <a:p>
            <a:pPr>
              <a:lnSpc>
                <a:spcPct val="110000"/>
              </a:lnSpc>
              <a:spcAft>
                <a:spcPts val="1400"/>
              </a:spcAft>
            </a:pPr>
            <a:r>
              <a:rPr sz="1650">
                <a:solidFill>
                  <a:srgbClr val="2B2B2B"/>
                </a:solidFill>
                <a:latin typeface="Calibri"/>
              </a:rPr>
              <a:t>•   Stage 3 runs only for obligations classified as Ongoing Control in Stage 2.</a:t>
            </a:r>
          </a:p>
          <a:p>
            <a:pPr>
              <a:lnSpc>
                <a:spcPct val="110000"/>
              </a:lnSpc>
              <a:spcAft>
                <a:spcPts val="1400"/>
              </a:spcAft>
            </a:pPr>
            <a:r>
              <a:rPr sz="1650">
                <a:solidFill>
                  <a:srgbClr val="2B2B2B"/>
                </a:solidFill>
                <a:latin typeface="Calibri"/>
              </a:rPr>
              <a:t>•   For each such obligation, the model designs one internal control, including a title, objective, a two-to-three sentence description, a realistic owning department, control type, execution type, frequency, control level, the evidence the control generates, three to five key steps, and the residual risk if the control fails.</a:t>
            </a:r>
          </a:p>
          <a:p>
            <a:pPr>
              <a:lnSpc>
                <a:spcPct val="110000"/>
              </a:lnSpc>
              <a:spcAft>
                <a:spcPts val="1400"/>
              </a:spcAft>
            </a:pPr>
            <a:r>
              <a:rPr sz="1650">
                <a:solidFill>
                  <a:srgbClr val="2B2B2B"/>
                </a:solidFill>
                <a:latin typeface="Calibri"/>
              </a:rPr>
              <a:t>•   Obligations that are not Ongoing Control still pass through this stage, but with their control field left null — a control is never forced where one is not warranted.</a:t>
            </a:r>
          </a:p>
          <a:p>
            <a:pPr>
              <a:lnSpc>
                <a:spcPct val="110000"/>
              </a:lnSpc>
              <a:spcAft>
                <a:spcPts val="1400"/>
              </a:spcAft>
            </a:pPr>
            <a:r>
              <a:rPr sz="1650">
                <a:solidFill>
                  <a:srgbClr val="2B2B2B"/>
                </a:solidFill>
                <a:latin typeface="Calibri"/>
              </a:rPr>
              <a:t>•   This stage runs at a temperature of 0.25, with a token budget that defaults to 8,000 since no override is set in the code.</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Hallucination Control and Reliability</a:t>
            </a:r>
          </a:p>
        </p:txBody>
      </p:sp>
      <p:sp>
        <p:nvSpPr>
          <p:cNvPr id="5" name="TextBox 4"/>
          <p:cNvSpPr txBox="1"/>
          <p:nvPr/>
        </p:nvSpPr>
        <p:spPr>
          <a:xfrm>
            <a:off x="457200" y="1280160"/>
            <a:ext cx="11277295" cy="5029200"/>
          </a:xfrm>
          <a:prstGeom prst="rect">
            <a:avLst/>
          </a:prstGeom>
          <a:noFill/>
        </p:spPr>
        <p:txBody>
          <a:bodyPr wrap="square">
            <a:spAutoFit/>
          </a:bodyPr>
          <a:lstStyle/>
          <a:p>
            <a:pPr>
              <a:lnSpc>
                <a:spcPct val="110000"/>
              </a:lnSpc>
              <a:spcAft>
                <a:spcPts val="1400"/>
              </a:spcAft>
            </a:pPr>
            <a:r>
              <a:rPr sz="1650">
                <a:solidFill>
                  <a:srgbClr val="2B2B2B"/>
                </a:solidFill>
                <a:latin typeface="Calibri"/>
              </a:rPr>
              <a:t>•   Every prompt carries an explicit anti-fabrication instruction: the system message states the model must never hallucinate, and Stage 1 specifically instructs it to extract only what is written, never invent obligations, and never paraphrase or interpret beyond the source text.</a:t>
            </a:r>
          </a:p>
          <a:p>
            <a:pPr>
              <a:lnSpc>
                <a:spcPct val="110000"/>
              </a:lnSpc>
              <a:spcAft>
                <a:spcPts val="1400"/>
              </a:spcAft>
            </a:pPr>
            <a:r>
              <a:rPr sz="1650">
                <a:solidFill>
                  <a:srgbClr val="2B2B2B"/>
                </a:solidFill>
                <a:latin typeface="Calibri"/>
              </a:rPr>
              <a:t>•   Extraction runs at a temperature of 0.1, which sharply limits creative variation and produces near-deterministic output for the same input document.</a:t>
            </a:r>
          </a:p>
          <a:p>
            <a:pPr>
              <a:lnSpc>
                <a:spcPct val="110000"/>
              </a:lnSpc>
              <a:spcAft>
                <a:spcPts val="1400"/>
              </a:spcAft>
            </a:pPr>
            <a:r>
              <a:rPr sz="1650">
                <a:solidFill>
                  <a:srgbClr val="2B2B2B"/>
                </a:solidFill>
                <a:latin typeface="Calibri"/>
              </a:rPr>
              <a:t>•   Stage 2 flags any obligation it cannot make fully atomic for manual review rather than guessing silently, and Stage 3 only designs a control for obligations Stage 2 has already classified as requiring one.</a:t>
            </a:r>
          </a:p>
          <a:p>
            <a:pPr>
              <a:lnSpc>
                <a:spcPct val="110000"/>
              </a:lnSpc>
              <a:spcAft>
                <a:spcPts val="1400"/>
              </a:spcAft>
            </a:pPr>
            <a:r>
              <a:rPr sz="1650">
                <a:solidFill>
                  <a:srgbClr val="2B2B2B"/>
                </a:solidFill>
                <a:latin typeface="Calibri"/>
              </a:rPr>
              <a:t>•   Gap analysis applies the same grounding rule: the model is told to base every verdict only on the uploaded document's text and to quote a direct excerpt as evidence, never a paraphrase or an assumption.</a:t>
            </a:r>
          </a:p>
          <a:p>
            <a:pPr>
              <a:lnSpc>
                <a:spcPct val="110000"/>
              </a:lnSpc>
              <a:spcAft>
                <a:spcPts val="1400"/>
              </a:spcAft>
            </a:pPr>
            <a:r>
              <a:rPr sz="1650">
                <a:solidFill>
                  <a:srgbClr val="2B2B2B"/>
                </a:solidFill>
                <a:latin typeface="Calibri"/>
              </a:rPr>
              <a:t>•   Requirement and control matching follow the same principle: the system prompt instructs the model to compare items precisely and without hallucination, and the model defaults to a verdict of "new" whenever a match is not clearly justified.</a:t>
            </a:r>
          </a:p>
          <a:p>
            <a:pPr>
              <a:lnSpc>
                <a:spcPct val="110000"/>
              </a:lnSpc>
              <a:spcAft>
                <a:spcPts val="1400"/>
              </a:spcAft>
            </a:pPr>
            <a:r>
              <a:rPr sz="1650">
                <a:solidFill>
                  <a:srgbClr val="2B2B2B"/>
                </a:solidFill>
                <a:latin typeface="Calibri"/>
              </a:rPr>
              <a:t>•   There is no schema-constrained API output here, so resilience comes from prompt design plus a parser that strips formatting artifacts and falls back to an empty, clearly logged result rather than raising an error — a single malformed response is never retried into a fabricated success, and the pipeline simply moves on to the next document.</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E3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UC-15 — Matching, Gap Analysis, and Language Handling</a:t>
            </a:r>
          </a:p>
        </p:txBody>
      </p:sp>
      <p:sp>
        <p:nvSpPr>
          <p:cNvPr id="5" name="TextBox 4"/>
          <p:cNvSpPr txBox="1"/>
          <p:nvPr/>
        </p:nvSpPr>
        <p:spPr>
          <a:xfrm>
            <a:off x="457200" y="1280160"/>
            <a:ext cx="11277295" cy="5029200"/>
          </a:xfrm>
          <a:prstGeom prst="rect">
            <a:avLst/>
          </a:prstGeom>
          <a:noFill/>
        </p:spPr>
        <p:txBody>
          <a:bodyPr wrap="square">
            <a:spAutoFit/>
          </a:bodyPr>
          <a:lstStyle/>
          <a:p>
            <a:pPr>
              <a:lnSpc>
                <a:spcPct val="110000"/>
              </a:lnSpc>
              <a:spcAft>
                <a:spcPts val="1400"/>
              </a:spcAft>
            </a:pPr>
            <a:r>
              <a:rPr sz="1650">
                <a:solidFill>
                  <a:srgbClr val="2B2B2B"/>
                </a:solidFill>
                <a:latin typeface="Calibri"/>
              </a:rPr>
              <a:t>•   Requirement matching calls the LLM once per extracted requirement to obtain a fully-matched, partially-matched, or new verdict against the bank's existing requirements, and then once more for each extracted control and each extracted KPI within that requirement — so matching cost scales with the number of requirements, not the number of documents.</a:t>
            </a:r>
          </a:p>
          <a:p>
            <a:pPr>
              <a:lnSpc>
                <a:spcPct val="110000"/>
              </a:lnSpc>
              <a:spcAft>
                <a:spcPts val="1400"/>
              </a:spcAft>
            </a:pPr>
            <a:r>
              <a:rPr sz="1650">
                <a:solidFill>
                  <a:srgbClr val="2B2B2B"/>
                </a:solidFill>
                <a:latin typeface="Calibri"/>
              </a:rPr>
              <a:t>•   Each matching call is capped at 300 tokens, since the response is a short verdict and explanation rather than a generated document.</a:t>
            </a:r>
          </a:p>
          <a:p>
            <a:pPr>
              <a:lnSpc>
                <a:spcPct val="110000"/>
              </a:lnSpc>
              <a:spcAft>
                <a:spcPts val="1400"/>
              </a:spcAft>
            </a:pPr>
            <a:r>
              <a:rPr sz="1650">
                <a:solidFill>
                  <a:srgbClr val="2B2B2B"/>
                </a:solidFill>
                <a:latin typeface="Calibri"/>
              </a:rPr>
              <a:t>•   Gap analysis compares an uploaded document against the extracted obligations. Uploads longer than 12,000 characters are split by paragraph and analyzed chunk by chunk, with results merged across chunks using a simple priority: covered outranks partial, and partial outranks missing.</a:t>
            </a:r>
          </a:p>
          <a:p>
            <a:pPr>
              <a:lnSpc>
                <a:spcPct val="110000"/>
              </a:lnSpc>
              <a:spcAft>
                <a:spcPts val="1400"/>
              </a:spcAft>
            </a:pPr>
            <a:r>
              <a:rPr sz="1650">
                <a:solidFill>
                  <a:srgbClr val="2B2B2B"/>
                </a:solidFill>
                <a:latin typeface="Calibri"/>
              </a:rPr>
              <a:t>•   Language is detected once per document, and every stage prompt repeats the instruction that all output fields must remain in that language, with no translation applied — the engine classifies obligations in their original language rather than normalizing everything to English first.</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Costing — Per-Document Economics</a:t>
            </a:r>
          </a:p>
        </p:txBody>
      </p:sp>
      <p:graphicFrame>
        <p:nvGraphicFramePr>
          <p:cNvPr id="5" name="Table 4"/>
          <p:cNvGraphicFramePr>
            <a:graphicFrameLocks noGrp="1"/>
          </p:cNvGraphicFramePr>
          <p:nvPr/>
        </p:nvGraphicFramePr>
        <p:xfrm>
          <a:off x="457200" y="1188720"/>
          <a:ext cx="11277294" cy="4663440"/>
        </p:xfrm>
        <a:graphic>
          <a:graphicData uri="http://schemas.openxmlformats.org/drawingml/2006/table">
            <a:tbl>
              <a:tblPr firstRow="1" bandRow="1">
                <a:tableStyleId>{5C22544A-7EE6-4342-B048-85BDC9FD1C3A}</a:tableStyleId>
              </a:tblPr>
              <a:tblGrid>
                <a:gridCol w="2537391">
                  <a:extLst>
                    <a:ext uri="{9D8B030D-6E8A-4147-A177-3AD203B41FA5}">
                      <a16:colId xmlns:a16="http://schemas.microsoft.com/office/drawing/2014/main" val="20000"/>
                    </a:ext>
                  </a:extLst>
                </a:gridCol>
                <a:gridCol w="4510918">
                  <a:extLst>
                    <a:ext uri="{9D8B030D-6E8A-4147-A177-3AD203B41FA5}">
                      <a16:colId xmlns:a16="http://schemas.microsoft.com/office/drawing/2014/main" val="20001"/>
                    </a:ext>
                  </a:extLst>
                </a:gridCol>
                <a:gridCol w="4228985">
                  <a:extLst>
                    <a:ext uri="{9D8B030D-6E8A-4147-A177-3AD203B41FA5}">
                      <a16:colId xmlns:a16="http://schemas.microsoft.com/office/drawing/2014/main" val="20002"/>
                    </a:ext>
                  </a:extLst>
                </a:gridCol>
              </a:tblGrid>
              <a:tr h="777240">
                <a:tc>
                  <a:txBody>
                    <a:bodyPr/>
                    <a:lstStyle/>
                    <a:p>
                      <a:pPr algn="l"/>
                      <a:r>
                        <a:rPr sz="1400" b="1">
                          <a:solidFill>
                            <a:srgbClr val="FFFFFF"/>
                          </a:solidFill>
                          <a:latin typeface="Calibri"/>
                        </a:rPr>
                        <a:t>Regulator</a:t>
                      </a:r>
                    </a:p>
                  </a:txBody>
                  <a:tcPr marL="64008" marR="64008" marT="27432" marB="27432" anchor="ctr">
                    <a:solidFill>
                      <a:srgbClr val="102A43"/>
                    </a:solidFill>
                  </a:tcPr>
                </a:tc>
                <a:tc>
                  <a:txBody>
                    <a:bodyPr/>
                    <a:lstStyle/>
                    <a:p>
                      <a:pPr algn="l"/>
                      <a:r>
                        <a:rPr sz="1400" b="1">
                          <a:solidFill>
                            <a:srgbClr val="FFFFFF"/>
                          </a:solidFill>
                          <a:latin typeface="Calibri"/>
                        </a:rPr>
                        <a:t>Avg. Cost per Document Analyzed</a:t>
                      </a:r>
                    </a:p>
                  </a:txBody>
                  <a:tcPr marL="64008" marR="64008" marT="27432" marB="27432" anchor="ctr">
                    <a:solidFill>
                      <a:srgbClr val="102A43"/>
                    </a:solidFill>
                  </a:tcPr>
                </a:tc>
                <a:tc>
                  <a:txBody>
                    <a:bodyPr/>
                    <a:lstStyle/>
                    <a:p>
                      <a:pPr algn="l"/>
                      <a:r>
                        <a:rPr sz="1400" b="1">
                          <a:solidFill>
                            <a:srgbClr val="FFFFFF"/>
                          </a:solidFill>
                          <a:latin typeface="Calibri"/>
                        </a:rPr>
                        <a:t>Documents Analyzed to Date</a:t>
                      </a:r>
                    </a:p>
                  </a:txBody>
                  <a:tcPr marL="64008" marR="64008" marT="27432" marB="27432" anchor="ctr">
                    <a:solidFill>
                      <a:srgbClr val="102A43"/>
                    </a:solidFill>
                  </a:tcPr>
                </a:tc>
                <a:extLst>
                  <a:ext uri="{0D108BD9-81ED-4DB2-BD59-A6C34878D82A}">
                    <a16:rowId xmlns:a16="http://schemas.microsoft.com/office/drawing/2014/main" val="10000"/>
                  </a:ext>
                </a:extLst>
              </a:tr>
              <a:tr h="777240">
                <a:tc>
                  <a:txBody>
                    <a:bodyPr/>
                    <a:lstStyle/>
                    <a:p>
                      <a:r>
                        <a:rPr sz="1300" b="1">
                          <a:solidFill>
                            <a:srgbClr val="2B2B2B"/>
                          </a:solidFill>
                          <a:latin typeface="Calibri"/>
                        </a:rPr>
                        <a:t>CBB</a:t>
                      </a:r>
                    </a:p>
                  </a:txBody>
                  <a:tcPr marL="64008" marR="64008" marT="27432" marB="27432" anchor="ctr">
                    <a:solidFill>
                      <a:srgbClr val="FFFFFF"/>
                    </a:solidFill>
                  </a:tcPr>
                </a:tc>
                <a:tc>
                  <a:txBody>
                    <a:bodyPr/>
                    <a:lstStyle/>
                    <a:p>
                      <a:r>
                        <a:rPr sz="1300" b="0">
                          <a:solidFill>
                            <a:srgbClr val="2B2B2B"/>
                          </a:solidFill>
                          <a:latin typeface="Calibri"/>
                        </a:rPr>
                        <a:t>~$0.003</a:t>
                      </a:r>
                    </a:p>
                  </a:txBody>
                  <a:tcPr marL="64008" marR="64008" marT="27432" marB="27432" anchor="ctr">
                    <a:solidFill>
                      <a:srgbClr val="FFFFFF"/>
                    </a:solidFill>
                  </a:tcPr>
                </a:tc>
                <a:tc>
                  <a:txBody>
                    <a:bodyPr/>
                    <a:lstStyle/>
                    <a:p>
                      <a:r>
                        <a:rPr sz="1300" b="0">
                          <a:solidFill>
                            <a:srgbClr val="2B2B2B"/>
                          </a:solidFill>
                          <a:latin typeface="Calibri"/>
                        </a:rPr>
                        <a:t>9</a:t>
                      </a:r>
                    </a:p>
                  </a:txBody>
                  <a:tcPr marL="64008" marR="64008" marT="27432" marB="27432" anchor="ctr">
                    <a:solidFill>
                      <a:srgbClr val="FFFFFF"/>
                    </a:solidFill>
                  </a:tcPr>
                </a:tc>
                <a:extLst>
                  <a:ext uri="{0D108BD9-81ED-4DB2-BD59-A6C34878D82A}">
                    <a16:rowId xmlns:a16="http://schemas.microsoft.com/office/drawing/2014/main" val="10001"/>
                  </a:ext>
                </a:extLst>
              </a:tr>
              <a:tr h="777240">
                <a:tc>
                  <a:txBody>
                    <a:bodyPr/>
                    <a:lstStyle/>
                    <a:p>
                      <a:r>
                        <a:rPr sz="1300" b="1">
                          <a:solidFill>
                            <a:srgbClr val="2B2B2B"/>
                          </a:solidFill>
                          <a:latin typeface="Calibri"/>
                        </a:rPr>
                        <a:t>SBP</a:t>
                      </a:r>
                    </a:p>
                  </a:txBody>
                  <a:tcPr marL="64008" marR="64008" marT="27432" marB="27432" anchor="ctr">
                    <a:solidFill>
                      <a:srgbClr val="E9EDF0"/>
                    </a:solidFill>
                  </a:tcPr>
                </a:tc>
                <a:tc>
                  <a:txBody>
                    <a:bodyPr/>
                    <a:lstStyle/>
                    <a:p>
                      <a:r>
                        <a:rPr sz="1300" b="0">
                          <a:solidFill>
                            <a:srgbClr val="2B2B2B"/>
                          </a:solidFill>
                          <a:latin typeface="Calibri"/>
                        </a:rPr>
                        <a:t>~$0.008</a:t>
                      </a:r>
                    </a:p>
                  </a:txBody>
                  <a:tcPr marL="64008" marR="64008" marT="27432" marB="27432" anchor="ctr">
                    <a:solidFill>
                      <a:srgbClr val="E9EDF0"/>
                    </a:solidFill>
                  </a:tcPr>
                </a:tc>
                <a:tc>
                  <a:txBody>
                    <a:bodyPr/>
                    <a:lstStyle/>
                    <a:p>
                      <a:r>
                        <a:rPr sz="1300" b="0">
                          <a:solidFill>
                            <a:srgbClr val="2B2B2B"/>
                          </a:solidFill>
                          <a:latin typeface="Calibri"/>
                        </a:rPr>
                        <a:t>509</a:t>
                      </a:r>
                    </a:p>
                  </a:txBody>
                  <a:tcPr marL="64008" marR="64008" marT="27432" marB="27432" anchor="ctr">
                    <a:solidFill>
                      <a:srgbClr val="E9EDF0"/>
                    </a:solidFill>
                  </a:tcPr>
                </a:tc>
                <a:extLst>
                  <a:ext uri="{0D108BD9-81ED-4DB2-BD59-A6C34878D82A}">
                    <a16:rowId xmlns:a16="http://schemas.microsoft.com/office/drawing/2014/main" val="10002"/>
                  </a:ext>
                </a:extLst>
              </a:tr>
              <a:tr h="777240">
                <a:tc>
                  <a:txBody>
                    <a:bodyPr/>
                    <a:lstStyle/>
                    <a:p>
                      <a:r>
                        <a:rPr sz="1300" b="1">
                          <a:solidFill>
                            <a:srgbClr val="2B2B2B"/>
                          </a:solidFill>
                          <a:latin typeface="Calibri"/>
                        </a:rPr>
                        <a:t>SECP</a:t>
                      </a:r>
                    </a:p>
                  </a:txBody>
                  <a:tcPr marL="64008" marR="64008" marT="27432" marB="27432" anchor="ctr">
                    <a:solidFill>
                      <a:srgbClr val="FFFFFF"/>
                    </a:solidFill>
                  </a:tcPr>
                </a:tc>
                <a:tc>
                  <a:txBody>
                    <a:bodyPr/>
                    <a:lstStyle/>
                    <a:p>
                      <a:r>
                        <a:rPr sz="1300" b="0">
                          <a:solidFill>
                            <a:srgbClr val="2B2B2B"/>
                          </a:solidFill>
                          <a:latin typeface="Calibri"/>
                        </a:rPr>
                        <a:t>~$0.04</a:t>
                      </a:r>
                    </a:p>
                  </a:txBody>
                  <a:tcPr marL="64008" marR="64008" marT="27432" marB="27432" anchor="ctr">
                    <a:solidFill>
                      <a:srgbClr val="FFFFFF"/>
                    </a:solidFill>
                  </a:tcPr>
                </a:tc>
                <a:tc>
                  <a:txBody>
                    <a:bodyPr/>
                    <a:lstStyle/>
                    <a:p>
                      <a:r>
                        <a:rPr sz="1300" b="0">
                          <a:solidFill>
                            <a:srgbClr val="2B2B2B"/>
                          </a:solidFill>
                          <a:latin typeface="Calibri"/>
                        </a:rPr>
                        <a:t>195</a:t>
                      </a:r>
                    </a:p>
                  </a:txBody>
                  <a:tcPr marL="64008" marR="64008" marT="27432" marB="27432" anchor="ctr">
                    <a:solidFill>
                      <a:srgbClr val="FFFFFF"/>
                    </a:solidFill>
                  </a:tcPr>
                </a:tc>
                <a:extLst>
                  <a:ext uri="{0D108BD9-81ED-4DB2-BD59-A6C34878D82A}">
                    <a16:rowId xmlns:a16="http://schemas.microsoft.com/office/drawing/2014/main" val="10003"/>
                  </a:ext>
                </a:extLst>
              </a:tr>
              <a:tr h="777240">
                <a:tc>
                  <a:txBody>
                    <a:bodyPr/>
                    <a:lstStyle/>
                    <a:p>
                      <a:r>
                        <a:rPr sz="1300" b="1">
                          <a:solidFill>
                            <a:srgbClr val="2B2B2B"/>
                          </a:solidFill>
                          <a:latin typeface="Calibri"/>
                        </a:rPr>
                        <a:t>SAMA</a:t>
                      </a:r>
                    </a:p>
                  </a:txBody>
                  <a:tcPr marL="64008" marR="64008" marT="27432" marB="27432" anchor="ctr">
                    <a:solidFill>
                      <a:srgbClr val="E9EDF0"/>
                    </a:solidFill>
                  </a:tcPr>
                </a:tc>
                <a:tc>
                  <a:txBody>
                    <a:bodyPr/>
                    <a:lstStyle/>
                    <a:p>
                      <a:r>
                        <a:rPr sz="1300" b="0">
                          <a:solidFill>
                            <a:srgbClr val="2B2B2B"/>
                          </a:solidFill>
                          <a:latin typeface="Calibri"/>
                        </a:rPr>
                        <a:t>~$0.03</a:t>
                      </a:r>
                    </a:p>
                  </a:txBody>
                  <a:tcPr marL="64008" marR="64008" marT="27432" marB="27432" anchor="ctr">
                    <a:solidFill>
                      <a:srgbClr val="E9EDF0"/>
                    </a:solidFill>
                  </a:tcPr>
                </a:tc>
                <a:tc>
                  <a:txBody>
                    <a:bodyPr/>
                    <a:lstStyle/>
                    <a:p>
                      <a:r>
                        <a:rPr sz="1300" b="0">
                          <a:solidFill>
                            <a:srgbClr val="2B2B2B"/>
                          </a:solidFill>
                          <a:latin typeface="Calibri"/>
                        </a:rPr>
                        <a:t>671</a:t>
                      </a:r>
                    </a:p>
                  </a:txBody>
                  <a:tcPr marL="64008" marR="64008" marT="27432" marB="27432" anchor="ctr">
                    <a:solidFill>
                      <a:srgbClr val="E9EDF0"/>
                    </a:solidFill>
                  </a:tcPr>
                </a:tc>
                <a:extLst>
                  <a:ext uri="{0D108BD9-81ED-4DB2-BD59-A6C34878D82A}">
                    <a16:rowId xmlns:a16="http://schemas.microsoft.com/office/drawing/2014/main" val="10004"/>
                  </a:ext>
                </a:extLst>
              </a:tr>
              <a:tr h="777240">
                <a:tc>
                  <a:txBody>
                    <a:bodyPr/>
                    <a:lstStyle/>
                    <a:p>
                      <a:r>
                        <a:rPr sz="1300" b="1">
                          <a:solidFill>
                            <a:srgbClr val="2B2B2B"/>
                          </a:solidFill>
                          <a:latin typeface="Calibri"/>
                        </a:rPr>
                        <a:t>Total / Blended</a:t>
                      </a:r>
                    </a:p>
                  </a:txBody>
                  <a:tcPr marL="64008" marR="64008" marT="27432" marB="27432" anchor="ctr">
                    <a:solidFill>
                      <a:srgbClr val="FFFFFF"/>
                    </a:solidFill>
                  </a:tcPr>
                </a:tc>
                <a:tc>
                  <a:txBody>
                    <a:bodyPr/>
                    <a:lstStyle/>
                    <a:p>
                      <a:r>
                        <a:rPr sz="1300" b="0">
                          <a:solidFill>
                            <a:srgbClr val="2B2B2B"/>
                          </a:solidFill>
                          <a:latin typeface="Calibri"/>
                        </a:rPr>
                        <a:t>~$0.025 average</a:t>
                      </a:r>
                    </a:p>
                  </a:txBody>
                  <a:tcPr marL="64008" marR="64008" marT="27432" marB="27432" anchor="ctr">
                    <a:solidFill>
                      <a:srgbClr val="FFFFFF"/>
                    </a:solidFill>
                  </a:tcPr>
                </a:tc>
                <a:tc>
                  <a:txBody>
                    <a:bodyPr/>
                    <a:lstStyle/>
                    <a:p>
                      <a:r>
                        <a:rPr sz="1300" b="0">
                          <a:solidFill>
                            <a:srgbClr val="2B2B2B"/>
                          </a:solidFill>
                          <a:latin typeface="Calibri"/>
                        </a:rPr>
                        <a:t>1,384</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5925312"/>
            <a:ext cx="11277295" cy="411480"/>
          </a:xfrm>
          <a:prstGeom prst="rect">
            <a:avLst/>
          </a:prstGeom>
          <a:noFill/>
        </p:spPr>
        <p:txBody>
          <a:bodyPr wrap="square" lIns="0" tIns="0" rIns="0" bIns="0" anchor="t">
            <a:noAutofit/>
          </a:bodyPr>
          <a:lstStyle/>
          <a:p>
            <a:pPr algn="l"/>
            <a:endParaRPr sz="1100" b="0" i="1" dirty="0">
              <a:latin typeface="Calibri"/>
            </a:endParaRPr>
          </a:p>
        </p:txBody>
      </p:sp>
      <p:sp>
        <p:nvSpPr>
          <p:cNvPr id="8" name="Rectangle 7"/>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31750"/>
          </a:xfrm>
          <a:prstGeom prst="rect">
            <a:avLst/>
          </a:prstGeom>
          <a:solidFill>
            <a:srgbClr val="17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77295" cy="914400"/>
          </a:xfrm>
          <a:prstGeom prst="rect">
            <a:avLst/>
          </a:prstGeom>
          <a:noFill/>
        </p:spPr>
        <p:txBody>
          <a:bodyPr wrap="square" lIns="0" tIns="0" rIns="0" bIns="0" anchor="ctr">
            <a:noAutofit/>
          </a:bodyPr>
          <a:lstStyle/>
          <a:p>
            <a:pPr algn="l"/>
            <a:r>
              <a:rPr sz="2600" b="1" i="0">
                <a:solidFill>
                  <a:srgbClr val="102A43"/>
                </a:solidFill>
                <a:latin typeface="Calibri"/>
              </a:rPr>
              <a:t>Key Takeaways</a:t>
            </a:r>
          </a:p>
        </p:txBody>
      </p:sp>
      <p:sp>
        <p:nvSpPr>
          <p:cNvPr id="5" name="TextBox 4"/>
          <p:cNvSpPr txBox="1"/>
          <p:nvPr/>
        </p:nvSpPr>
        <p:spPr>
          <a:xfrm>
            <a:off x="457200" y="1280160"/>
            <a:ext cx="11277295" cy="5029200"/>
          </a:xfrm>
          <a:prstGeom prst="rect">
            <a:avLst/>
          </a:prstGeom>
          <a:noFill/>
        </p:spPr>
        <p:txBody>
          <a:bodyPr wrap="square">
            <a:spAutoFit/>
          </a:bodyPr>
          <a:lstStyle/>
          <a:p>
            <a:pPr>
              <a:lnSpc>
                <a:spcPct val="110000"/>
              </a:lnSpc>
              <a:spcAft>
                <a:spcPts val="1400"/>
              </a:spcAft>
            </a:pPr>
            <a:r>
              <a:rPr sz="1650" dirty="0">
                <a:solidFill>
                  <a:srgbClr val="2B2B2B"/>
                </a:solidFill>
                <a:latin typeface="Calibri"/>
              </a:rPr>
              <a:t>•   UC-2 is the pipeline: four regulator-specific crawlers feed one unified flow that extracts, analyzes, stores, and serves regulatory content, with CBB alone carrying a complete version history.</a:t>
            </a:r>
          </a:p>
          <a:p>
            <a:pPr>
              <a:lnSpc>
                <a:spcPct val="110000"/>
              </a:lnSpc>
              <a:spcAft>
                <a:spcPts val="1400"/>
              </a:spcAft>
            </a:pPr>
            <a:r>
              <a:rPr sz="1650" dirty="0">
                <a:solidFill>
                  <a:srgbClr val="2B2B2B"/>
                </a:solidFill>
                <a:latin typeface="Calibri"/>
              </a:rPr>
              <a:t>•   UC-15 is the engine inside that pipeline: a three-stage LLM process that extracts, classifies, and designs controls, combined with per-requirement matching and chunked gap analysis. The same engine serves both crawled and manually uploaded documents.</a:t>
            </a:r>
          </a:p>
          <a:p>
            <a:pPr>
              <a:lnSpc>
                <a:spcPct val="110000"/>
              </a:lnSpc>
              <a:spcAft>
                <a:spcPts val="1400"/>
              </a:spcAft>
            </a:pPr>
            <a:r>
              <a:rPr sz="1650" dirty="0">
                <a:solidFill>
                  <a:srgbClr val="2B2B2B"/>
                </a:solidFill>
                <a:latin typeface="Calibri"/>
              </a:rPr>
              <a:t>•   Every major tool choice reflects a real, falsifiable decision: PDF.co was chosen for formatting fidelity after local OCR proved insufficient; DeepSeek v3.2 was chosen for balanced performance at meaningfully lower cost than Claude or GPT-4-class models; and each crawler framework was matched to its regulator's actual site behavior.</a:t>
            </a:r>
          </a:p>
          <a:p>
            <a:pPr>
              <a:lnSpc>
                <a:spcPct val="110000"/>
              </a:lnSpc>
              <a:spcAft>
                <a:spcPts val="1400"/>
              </a:spcAft>
            </a:pPr>
            <a:r>
              <a:rPr sz="1650" dirty="0">
                <a:solidFill>
                  <a:srgbClr val="2B2B2B"/>
                </a:solidFill>
                <a:latin typeface="Calibri"/>
              </a:rPr>
              <a:t>•   Reliability is built in at every stage: explicit anti-hallucination instructions, low-temperature extraction, evidence-quoting rules, and graceful degradation on failure all work together so the system never guesses when it isn't sure.</a:t>
            </a:r>
          </a:p>
          <a:p>
            <a:pPr>
              <a:lnSpc>
                <a:spcPct val="110000"/>
              </a:lnSpc>
              <a:spcAft>
                <a:spcPts val="1400"/>
              </a:spcAft>
            </a:pPr>
            <a:r>
              <a:rPr sz="1650" dirty="0">
                <a:solidFill>
                  <a:srgbClr val="2B2B2B"/>
                </a:solidFill>
                <a:latin typeface="Calibri"/>
              </a:rPr>
              <a:t>•   Real usage to date — 1,384 documents analyzed over four and a half months, at an estimated $0.025 average cost per document — is a small fraction of the 41,992 documents crawled. CBB's depth-based filter accounts for most of that difference.</a:t>
            </a:r>
          </a:p>
        </p:txBody>
      </p:sp>
      <p:sp>
        <p:nvSpPr>
          <p:cNvPr id="6" name="Rectangle 5"/>
          <p:cNvSpPr/>
          <p:nvPr/>
        </p:nvSpPr>
        <p:spPr>
          <a:xfrm>
            <a:off x="0" y="6565392"/>
            <a:ext cx="12191695" cy="152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7315200" cy="292608"/>
          </a:xfrm>
          <a:prstGeom prst="rect">
            <a:avLst/>
          </a:prstGeom>
          <a:noFill/>
        </p:spPr>
        <p:txBody>
          <a:bodyPr wrap="square" lIns="0" tIns="0" rIns="0" bIns="0" anchor="ctr">
            <a:noAutofit/>
          </a:bodyPr>
          <a:lstStyle/>
          <a:p>
            <a:pPr algn="l"/>
            <a:r>
              <a:rPr sz="1000" b="0" i="0">
                <a:solidFill>
                  <a:srgbClr val="8A939B"/>
                </a:solidFill>
                <a:latin typeface="Calibri"/>
              </a:rPr>
              <a:t>Regulatory Compliance Automation — UC-2 &amp; UC-15</a:t>
            </a:r>
          </a:p>
        </p:txBody>
      </p:sp>
      <p:sp>
        <p:nvSpPr>
          <p:cNvPr id="8" name="TextBox 7"/>
          <p:cNvSpPr txBox="1"/>
          <p:nvPr/>
        </p:nvSpPr>
        <p:spPr>
          <a:xfrm>
            <a:off x="11002975" y="6565392"/>
            <a:ext cx="731520" cy="292608"/>
          </a:xfrm>
          <a:prstGeom prst="rect">
            <a:avLst/>
          </a:prstGeom>
          <a:noFill/>
        </p:spPr>
        <p:txBody>
          <a:bodyPr wrap="square" lIns="0" tIns="0" rIns="0" bIns="0" anchor="ctr">
            <a:noAutofit/>
          </a:bodyPr>
          <a:lstStyle/>
          <a:p>
            <a:pPr algn="r"/>
            <a:r>
              <a:rPr sz="1000" b="0" i="0">
                <a:solidFill>
                  <a:srgbClr val="8A939B"/>
                </a:solidFill>
                <a:latin typeface="Calibri"/>
              </a:rPr>
              <a:t>27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017520"/>
            <a:ext cx="10360152" cy="914400"/>
          </a:xfrm>
          <a:prstGeom prst="rect">
            <a:avLst/>
          </a:prstGeom>
          <a:noFill/>
        </p:spPr>
        <p:txBody>
          <a:bodyPr wrap="square" lIns="0" tIns="0" rIns="0" bIns="0" anchor="ctr">
            <a:noAutofit/>
          </a:bodyPr>
          <a:lstStyle/>
          <a:p>
            <a:pPr algn="ctr"/>
            <a:r>
              <a:rPr sz="4000" b="1" i="0">
                <a:solidFill>
                  <a:srgbClr val="17A28B"/>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3587</Words>
  <Application>Microsoft Office PowerPoint</Application>
  <PresentationFormat>Widescreen</PresentationFormat>
  <Paragraphs>242</Paragraphs>
  <Slides>23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Hamdia</dc:creator>
  <cp:keywords/>
  <dc:description>generated using python-pptx</dc:description>
  <cp:lastModifiedBy>Hamdia Nouman</cp:lastModifiedBy>
  <cp:revision>3</cp:revision>
  <dcterms:created xsi:type="dcterms:W3CDTF">2013-01-27T09:14:16Z</dcterms:created>
  <dcterms:modified xsi:type="dcterms:W3CDTF">2026-06-16T09:38:14Z</dcterms:modified>
  <cp:category/>
</cp:coreProperties>
</file>